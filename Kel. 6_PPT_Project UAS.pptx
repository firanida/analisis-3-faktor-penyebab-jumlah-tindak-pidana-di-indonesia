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x="18288000" cy="10287000"/>
  <p:notesSz cx="6858000" cy="9144000"/>
  <p:embeddedFontLst>
    <p:embeddedFont>
      <p:font typeface="Open Sauce Bold Italics" charset="1" panose="00000800000000000000"/>
      <p:regular r:id="rId37"/>
    </p:embeddedFont>
    <p:embeddedFont>
      <p:font typeface="Open Sauce Italics" charset="1" panose="00000500000000000000"/>
      <p:regular r:id="rId38"/>
    </p:embeddedFont>
    <p:embeddedFont>
      <p:font typeface="Open Sauce Bold" charset="1" panose="00000800000000000000"/>
      <p:regular r:id="rId39"/>
    </p:embeddedFont>
    <p:embeddedFont>
      <p:font typeface="Open Sauce" charset="1" panose="00000500000000000000"/>
      <p:regular r:id="rId40"/>
    </p:embeddedFont>
    <p:embeddedFont>
      <p:font typeface="Open Sans Bold" charset="1" panose="020B0806030504020204"/>
      <p:regular r:id="rId41"/>
    </p:embeddedFont>
    <p:embeddedFont>
      <p:font typeface="Open Sans" charset="1" panose="020B06060305040202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jpeg" Type="http://schemas.openxmlformats.org/officeDocument/2006/relationships/image"/><Relationship Id="rId11" Target="../media/image16.jpeg" Type="http://schemas.openxmlformats.org/officeDocument/2006/relationships/image"/><Relationship Id="rId12" Target="../media/image17.jpeg" Type="http://schemas.openxmlformats.org/officeDocument/2006/relationships/image"/><Relationship Id="rId13" Target="../media/image18.jpeg" Type="http://schemas.openxmlformats.org/officeDocument/2006/relationships/image"/><Relationship Id="rId14" Target="../media/image19.jpeg" Type="http://schemas.openxmlformats.org/officeDocument/2006/relationships/image"/><Relationship Id="rId15" Target="../media/image20.jpeg" Type="http://schemas.openxmlformats.org/officeDocument/2006/relationships/image"/><Relationship Id="rId16" Target="../media/image21.jpeg" Type="http://schemas.openxmlformats.org/officeDocument/2006/relationships/image"/><Relationship Id="rId17" Target="../media/image22.png" Type="http://schemas.openxmlformats.org/officeDocument/2006/relationships/image"/><Relationship Id="rId18" Target="../media/image23.svg" Type="http://schemas.openxmlformats.org/officeDocument/2006/relationships/image"/><Relationship Id="rId19" Target="../media/image24.png" Type="http://schemas.openxmlformats.org/officeDocument/2006/relationships/image"/><Relationship Id="rId2" Target="../media/image8.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12.png" Type="http://schemas.openxmlformats.org/officeDocument/2006/relationships/image"/><Relationship Id="rId8" Target="../media/image13.jpeg" Type="http://schemas.openxmlformats.org/officeDocument/2006/relationships/image"/><Relationship Id="rId9" Target="../media/image1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jpeg" Type="http://schemas.openxmlformats.org/officeDocument/2006/relationships/image"/><Relationship Id="rId8" Target="../media/image28.jpeg" Type="http://schemas.openxmlformats.org/officeDocument/2006/relationships/image"/><Relationship Id="rId9" Target="../media/image2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30.jpeg" Type="http://schemas.openxmlformats.org/officeDocument/2006/relationships/image"/><Relationship Id="rId8" Target="../media/image3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2.jpeg" Type="http://schemas.openxmlformats.org/officeDocument/2006/relationships/image"/><Relationship Id="rId6" Target="../media/image33.jpeg" Type="http://schemas.openxmlformats.org/officeDocument/2006/relationships/image"/><Relationship Id="rId7" Target="../media/image34.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5.jpeg" Type="http://schemas.openxmlformats.org/officeDocument/2006/relationships/image"/><Relationship Id="rId6" Target="../media/image3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7.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38.jpeg" Type="http://schemas.openxmlformats.org/officeDocument/2006/relationships/image"/><Relationship Id="rId6" Target="../media/image39.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0.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3.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44.jpeg" Type="http://schemas.openxmlformats.org/officeDocument/2006/relationships/image"/><Relationship Id="rId6" Target="../media/image45.jpeg" Type="http://schemas.openxmlformats.org/officeDocument/2006/relationships/image"/><Relationship Id="rId7" Target="../media/image46.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47.jpeg" Type="http://schemas.openxmlformats.org/officeDocument/2006/relationships/image"/><Relationship Id="rId6" Target="../media/image48.jpeg" Type="http://schemas.openxmlformats.org/officeDocument/2006/relationships/image"/><Relationship Id="rId7" Target="../media/image49.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50.jpeg" Type="http://schemas.openxmlformats.org/officeDocument/2006/relationships/image"/><Relationship Id="rId6" Target="../media/image51.jpeg" Type="http://schemas.openxmlformats.org/officeDocument/2006/relationships/image"/><Relationship Id="rId7" Target="../media/image52.jpeg" Type="http://schemas.openxmlformats.org/officeDocument/2006/relationships/image"/><Relationship Id="rId8" Target="../media/image5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54.jpeg" Type="http://schemas.openxmlformats.org/officeDocument/2006/relationships/image"/><Relationship Id="rId6" Target="../media/image55.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5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9949484"/>
            <a:ext cx="11252015" cy="337516"/>
            <a:chOff x="0" y="0"/>
            <a:chExt cx="2963494" cy="88893"/>
          </a:xfrm>
        </p:grpSpPr>
        <p:sp>
          <p:nvSpPr>
            <p:cNvPr name="Freeform 4" id="4"/>
            <p:cNvSpPr/>
            <p:nvPr/>
          </p:nvSpPr>
          <p:spPr>
            <a:xfrm flipH="false" flipV="false" rot="0">
              <a:off x="0" y="0"/>
              <a:ext cx="2963494" cy="88893"/>
            </a:xfrm>
            <a:custGeom>
              <a:avLst/>
              <a:gdLst/>
              <a:ahLst/>
              <a:cxnLst/>
              <a:rect r="r" b="b" t="t" l="l"/>
              <a:pathLst>
                <a:path h="88893" w="2963494">
                  <a:moveTo>
                    <a:pt x="0" y="0"/>
                  </a:moveTo>
                  <a:lnTo>
                    <a:pt x="2963494" y="0"/>
                  </a:lnTo>
                  <a:lnTo>
                    <a:pt x="2963494" y="88893"/>
                  </a:lnTo>
                  <a:lnTo>
                    <a:pt x="0" y="88893"/>
                  </a:lnTo>
                  <a:close/>
                </a:path>
              </a:pathLst>
            </a:custGeom>
            <a:solidFill>
              <a:srgbClr val="04458F"/>
            </a:solidFill>
          </p:spPr>
        </p:sp>
        <p:sp>
          <p:nvSpPr>
            <p:cNvPr name="TextBox 5" id="5"/>
            <p:cNvSpPr txBox="true"/>
            <p:nvPr/>
          </p:nvSpPr>
          <p:spPr>
            <a:xfrm>
              <a:off x="0" y="19050"/>
              <a:ext cx="2963494" cy="69843"/>
            </a:xfrm>
            <a:prstGeom prst="rect">
              <a:avLst/>
            </a:prstGeom>
          </p:spPr>
          <p:txBody>
            <a:bodyPr anchor="ctr" rtlCol="false" tIns="50800" lIns="50800" bIns="50800" rIns="50800"/>
            <a:lstStyle/>
            <a:p>
              <a:pPr algn="ctr">
                <a:lnSpc>
                  <a:spcPts val="2251"/>
                </a:lnSpc>
              </a:pPr>
            </a:p>
          </p:txBody>
        </p:sp>
      </p:grpSp>
      <p:grpSp>
        <p:nvGrpSpPr>
          <p:cNvPr name="Group 6" id="6"/>
          <p:cNvGrpSpPr/>
          <p:nvPr/>
        </p:nvGrpSpPr>
        <p:grpSpPr>
          <a:xfrm rot="0">
            <a:off x="-351656" y="-239763"/>
            <a:ext cx="4013896" cy="2106909"/>
            <a:chOff x="0" y="0"/>
            <a:chExt cx="1122609" cy="589261"/>
          </a:xfrm>
        </p:grpSpPr>
        <p:sp>
          <p:nvSpPr>
            <p:cNvPr name="Freeform 7" id="7"/>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8" id="8"/>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9" id="9"/>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3"/>
            <a:stretch>
              <a:fillRect l="-2237" t="0" r="-2237" b="0"/>
            </a:stretch>
          </a:blipFill>
        </p:spPr>
      </p:sp>
      <p:sp>
        <p:nvSpPr>
          <p:cNvPr name="Freeform 10" id="10"/>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4"/>
            <a:stretch>
              <a:fillRect l="-2237" t="0" r="-2237" b="0"/>
            </a:stretch>
          </a:blipFill>
        </p:spPr>
      </p:sp>
      <p:sp>
        <p:nvSpPr>
          <p:cNvPr name="TextBox 11" id="11"/>
          <p:cNvSpPr txBox="true"/>
          <p:nvPr/>
        </p:nvSpPr>
        <p:spPr>
          <a:xfrm rot="0">
            <a:off x="2152097" y="2916783"/>
            <a:ext cx="13695776" cy="3851275"/>
          </a:xfrm>
          <a:prstGeom prst="rect">
            <a:avLst/>
          </a:prstGeom>
        </p:spPr>
        <p:txBody>
          <a:bodyPr anchor="t" rtlCol="false" tIns="0" lIns="0" bIns="0" rIns="0">
            <a:spAutoFit/>
          </a:bodyPr>
          <a:lstStyle/>
          <a:p>
            <a:pPr algn="ctr">
              <a:lnSpc>
                <a:spcPts val="7699"/>
              </a:lnSpc>
            </a:pPr>
            <a:r>
              <a:rPr lang="en-US" b="true" sz="5499" i="true" spc="852">
                <a:solidFill>
                  <a:srgbClr val="04458F"/>
                </a:solidFill>
                <a:latin typeface="Open Sauce Bold Italics"/>
                <a:ea typeface="Open Sauce Bold Italics"/>
                <a:cs typeface="Open Sauce Bold Italics"/>
                <a:sym typeface="Open Sauce Bold Italics"/>
              </a:rPr>
              <a:t>ANALISIS 3 FAKTOR PENYEBAB JUMLAH TINDAK PIDANA DI INDONESIA</a:t>
            </a:r>
          </a:p>
          <a:p>
            <a:pPr algn="ctr" marL="0" indent="0" lvl="0">
              <a:lnSpc>
                <a:spcPts val="7699"/>
              </a:lnSpc>
            </a:pPr>
          </a:p>
        </p:txBody>
      </p:sp>
      <p:grpSp>
        <p:nvGrpSpPr>
          <p:cNvPr name="Group 12" id="12"/>
          <p:cNvGrpSpPr/>
          <p:nvPr/>
        </p:nvGrpSpPr>
        <p:grpSpPr>
          <a:xfrm rot="0">
            <a:off x="152400" y="10101884"/>
            <a:ext cx="11252015" cy="337516"/>
            <a:chOff x="0" y="0"/>
            <a:chExt cx="2963494" cy="88893"/>
          </a:xfrm>
        </p:grpSpPr>
        <p:sp>
          <p:nvSpPr>
            <p:cNvPr name="Freeform 13" id="13"/>
            <p:cNvSpPr/>
            <p:nvPr/>
          </p:nvSpPr>
          <p:spPr>
            <a:xfrm flipH="false" flipV="false" rot="0">
              <a:off x="0" y="0"/>
              <a:ext cx="2963494" cy="88893"/>
            </a:xfrm>
            <a:custGeom>
              <a:avLst/>
              <a:gdLst/>
              <a:ahLst/>
              <a:cxnLst/>
              <a:rect r="r" b="b" t="t" l="l"/>
              <a:pathLst>
                <a:path h="88893" w="2963494">
                  <a:moveTo>
                    <a:pt x="0" y="0"/>
                  </a:moveTo>
                  <a:lnTo>
                    <a:pt x="2963494" y="0"/>
                  </a:lnTo>
                  <a:lnTo>
                    <a:pt x="2963494" y="88893"/>
                  </a:lnTo>
                  <a:lnTo>
                    <a:pt x="0" y="88893"/>
                  </a:lnTo>
                  <a:close/>
                </a:path>
              </a:pathLst>
            </a:custGeom>
            <a:solidFill>
              <a:srgbClr val="221F20"/>
            </a:solidFill>
          </p:spPr>
        </p:sp>
        <p:sp>
          <p:nvSpPr>
            <p:cNvPr name="TextBox 14" id="14"/>
            <p:cNvSpPr txBox="true"/>
            <p:nvPr/>
          </p:nvSpPr>
          <p:spPr>
            <a:xfrm>
              <a:off x="0" y="19050"/>
              <a:ext cx="2963494" cy="69843"/>
            </a:xfrm>
            <a:prstGeom prst="rect">
              <a:avLst/>
            </a:prstGeom>
          </p:spPr>
          <p:txBody>
            <a:bodyPr anchor="ctr" rtlCol="false" tIns="50800" lIns="50800" bIns="50800" rIns="50800"/>
            <a:lstStyle/>
            <a:p>
              <a:pPr algn="ctr">
                <a:lnSpc>
                  <a:spcPts val="2251"/>
                </a:lnSpc>
              </a:pPr>
            </a:p>
          </p:txBody>
        </p:sp>
      </p:grpSp>
      <p:sp>
        <p:nvSpPr>
          <p:cNvPr name="Freeform 15" id="15"/>
          <p:cNvSpPr/>
          <p:nvPr/>
        </p:nvSpPr>
        <p:spPr>
          <a:xfrm flipH="false" flipV="false" rot="0">
            <a:off x="14036978" y="-2324634"/>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14183510" y="6182510"/>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035513" y="9656241"/>
            <a:ext cx="10179513" cy="293243"/>
          </a:xfrm>
          <a:prstGeom prst="rect">
            <a:avLst/>
          </a:prstGeom>
        </p:spPr>
        <p:txBody>
          <a:bodyPr anchor="t" rtlCol="false" tIns="0" lIns="0" bIns="0" rIns="0">
            <a:spAutoFit/>
          </a:bodyPr>
          <a:lstStyle/>
          <a:p>
            <a:pPr algn="ctr" marL="0" indent="0" lvl="0">
              <a:lnSpc>
                <a:spcPts val="2236"/>
              </a:lnSpc>
              <a:spcBef>
                <a:spcPct val="0"/>
              </a:spcBef>
            </a:pPr>
            <a:r>
              <a:rPr lang="en-US" sz="2600" i="true">
                <a:solidFill>
                  <a:srgbClr val="04458F"/>
                </a:solidFill>
                <a:latin typeface="Open Sauce Italics"/>
                <a:ea typeface="Open Sauce Italics"/>
                <a:cs typeface="Open Sauce Italics"/>
                <a:sym typeface="Open Sauce Italics"/>
              </a:rPr>
              <a:t>DEPARTEMEN S1 SAINS DATA • FMIPA UNESA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036978" y="-2324634"/>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460189" y="6129666"/>
            <a:ext cx="6257269" cy="6257269"/>
          </a:xfrm>
          <a:custGeom>
            <a:avLst/>
            <a:gdLst/>
            <a:ahLst/>
            <a:cxnLst/>
            <a:rect r="r" b="b" t="t" l="l"/>
            <a:pathLst>
              <a:path h="6257269" w="6257269">
                <a:moveTo>
                  <a:pt x="0" y="0"/>
                </a:moveTo>
                <a:lnTo>
                  <a:pt x="6257269" y="0"/>
                </a:lnTo>
                <a:lnTo>
                  <a:pt x="6257269"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151955" y="3479811"/>
            <a:ext cx="10212689" cy="1487805"/>
          </a:xfrm>
          <a:prstGeom prst="rect">
            <a:avLst/>
          </a:prstGeom>
        </p:spPr>
        <p:txBody>
          <a:bodyPr anchor="t" rtlCol="false" tIns="0" lIns="0" bIns="0" rIns="0">
            <a:spAutoFit/>
          </a:bodyPr>
          <a:lstStyle/>
          <a:p>
            <a:pPr algn="ctr">
              <a:lnSpc>
                <a:spcPts val="6209"/>
              </a:lnSpc>
            </a:pPr>
            <a:r>
              <a:rPr lang="en-US" b="true" sz="3000" spc="327">
                <a:solidFill>
                  <a:srgbClr val="04458F"/>
                </a:solidFill>
                <a:latin typeface="Open Sauce Bold"/>
                <a:ea typeface="Open Sauce Bold"/>
                <a:cs typeface="Open Sauce Bold"/>
                <a:sym typeface="Open Sauce Bold"/>
              </a:rPr>
              <a:t>Ivan Cahya Aryasuta (24031554172)</a:t>
            </a:r>
          </a:p>
          <a:p>
            <a:pPr algn="ctr">
              <a:lnSpc>
                <a:spcPts val="6209"/>
              </a:lnSpc>
            </a:pPr>
            <a:r>
              <a:rPr lang="en-US" b="true" sz="3000" spc="327">
                <a:solidFill>
                  <a:srgbClr val="04458F"/>
                </a:solidFill>
                <a:latin typeface="Open Sauce Bold"/>
                <a:ea typeface="Open Sauce Bold"/>
                <a:cs typeface="Open Sauce Bold"/>
                <a:sym typeface="Open Sauce Bold"/>
              </a:rPr>
              <a:t>Firda Nurkhairani (24031554209)</a:t>
            </a:r>
          </a:p>
        </p:txBody>
      </p:sp>
      <p:sp>
        <p:nvSpPr>
          <p:cNvPr name="TextBox 6" id="6"/>
          <p:cNvSpPr txBox="true"/>
          <p:nvPr/>
        </p:nvSpPr>
        <p:spPr>
          <a:xfrm rot="0">
            <a:off x="5404599" y="2105271"/>
            <a:ext cx="8632379" cy="881507"/>
          </a:xfrm>
          <a:prstGeom prst="rect">
            <a:avLst/>
          </a:prstGeom>
        </p:spPr>
        <p:txBody>
          <a:bodyPr anchor="t" rtlCol="false" tIns="0" lIns="0" bIns="0" rIns="0">
            <a:spAutoFit/>
          </a:bodyPr>
          <a:lstStyle/>
          <a:p>
            <a:pPr algn="l" marL="0" indent="0" lvl="0">
              <a:lnSpc>
                <a:spcPts val="6364"/>
              </a:lnSpc>
              <a:spcBef>
                <a:spcPct val="0"/>
              </a:spcBef>
            </a:pPr>
            <a:r>
              <a:rPr lang="en-US" b="true" sz="7400">
                <a:solidFill>
                  <a:srgbClr val="04458F"/>
                </a:solidFill>
                <a:latin typeface="Open Sauce Bold"/>
                <a:ea typeface="Open Sauce Bold"/>
                <a:cs typeface="Open Sauce Bold"/>
                <a:sym typeface="Open Sauce Bold"/>
              </a:rPr>
              <a:t>DISUSUN OLEH  :</a:t>
            </a:r>
          </a:p>
        </p:txBody>
      </p:sp>
      <p:grpSp>
        <p:nvGrpSpPr>
          <p:cNvPr name="Group 7" id="7"/>
          <p:cNvGrpSpPr/>
          <p:nvPr/>
        </p:nvGrpSpPr>
        <p:grpSpPr>
          <a:xfrm rot="0">
            <a:off x="-351656" y="-239763"/>
            <a:ext cx="4013896" cy="2106909"/>
            <a:chOff x="0" y="0"/>
            <a:chExt cx="1122609" cy="589261"/>
          </a:xfrm>
        </p:grpSpPr>
        <p:sp>
          <p:nvSpPr>
            <p:cNvPr name="Freeform 8" id="8"/>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9" id="9"/>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10" id="10"/>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11" id="11"/>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2" id="12"/>
          <p:cNvGrpSpPr/>
          <p:nvPr/>
        </p:nvGrpSpPr>
        <p:grpSpPr>
          <a:xfrm rot="0">
            <a:off x="0" y="9949484"/>
            <a:ext cx="11252015" cy="337516"/>
            <a:chOff x="0" y="0"/>
            <a:chExt cx="2963494" cy="88893"/>
          </a:xfrm>
        </p:grpSpPr>
        <p:sp>
          <p:nvSpPr>
            <p:cNvPr name="Freeform 13" id="13"/>
            <p:cNvSpPr/>
            <p:nvPr/>
          </p:nvSpPr>
          <p:spPr>
            <a:xfrm flipH="false" flipV="false" rot="0">
              <a:off x="0" y="0"/>
              <a:ext cx="2963494" cy="88893"/>
            </a:xfrm>
            <a:custGeom>
              <a:avLst/>
              <a:gdLst/>
              <a:ahLst/>
              <a:cxnLst/>
              <a:rect r="r" b="b" t="t" l="l"/>
              <a:pathLst>
                <a:path h="88893" w="2963494">
                  <a:moveTo>
                    <a:pt x="0" y="0"/>
                  </a:moveTo>
                  <a:lnTo>
                    <a:pt x="2963494" y="0"/>
                  </a:lnTo>
                  <a:lnTo>
                    <a:pt x="2963494" y="88893"/>
                  </a:lnTo>
                  <a:lnTo>
                    <a:pt x="0" y="88893"/>
                  </a:lnTo>
                  <a:close/>
                </a:path>
              </a:pathLst>
            </a:custGeom>
            <a:solidFill>
              <a:srgbClr val="04458F"/>
            </a:solidFill>
          </p:spPr>
        </p:sp>
        <p:sp>
          <p:nvSpPr>
            <p:cNvPr name="TextBox 14" id="14"/>
            <p:cNvSpPr txBox="true"/>
            <p:nvPr/>
          </p:nvSpPr>
          <p:spPr>
            <a:xfrm>
              <a:off x="0" y="19050"/>
              <a:ext cx="2963494" cy="69843"/>
            </a:xfrm>
            <a:prstGeom prst="rect">
              <a:avLst/>
            </a:prstGeom>
          </p:spPr>
          <p:txBody>
            <a:bodyPr anchor="ctr" rtlCol="false" tIns="50800" lIns="50800" bIns="50800" rIns="50800"/>
            <a:lstStyle/>
            <a:p>
              <a:pPr algn="ctr">
                <a:lnSpc>
                  <a:spcPts val="2251"/>
                </a:lnSpc>
              </a:pPr>
            </a:p>
          </p:txBody>
        </p:sp>
      </p:grpSp>
      <p:grpSp>
        <p:nvGrpSpPr>
          <p:cNvPr name="Group 15" id="15"/>
          <p:cNvGrpSpPr/>
          <p:nvPr/>
        </p:nvGrpSpPr>
        <p:grpSpPr>
          <a:xfrm rot="0">
            <a:off x="152400" y="10101884"/>
            <a:ext cx="11252015" cy="337516"/>
            <a:chOff x="0" y="0"/>
            <a:chExt cx="2963494" cy="88893"/>
          </a:xfrm>
        </p:grpSpPr>
        <p:sp>
          <p:nvSpPr>
            <p:cNvPr name="Freeform 16" id="16"/>
            <p:cNvSpPr/>
            <p:nvPr/>
          </p:nvSpPr>
          <p:spPr>
            <a:xfrm flipH="false" flipV="false" rot="0">
              <a:off x="0" y="0"/>
              <a:ext cx="2963494" cy="88893"/>
            </a:xfrm>
            <a:custGeom>
              <a:avLst/>
              <a:gdLst/>
              <a:ahLst/>
              <a:cxnLst/>
              <a:rect r="r" b="b" t="t" l="l"/>
              <a:pathLst>
                <a:path h="88893" w="2963494">
                  <a:moveTo>
                    <a:pt x="0" y="0"/>
                  </a:moveTo>
                  <a:lnTo>
                    <a:pt x="2963494" y="0"/>
                  </a:lnTo>
                  <a:lnTo>
                    <a:pt x="2963494" y="88893"/>
                  </a:lnTo>
                  <a:lnTo>
                    <a:pt x="0" y="88893"/>
                  </a:lnTo>
                  <a:close/>
                </a:path>
              </a:pathLst>
            </a:custGeom>
            <a:solidFill>
              <a:srgbClr val="221F20"/>
            </a:solidFill>
          </p:spPr>
        </p:sp>
        <p:sp>
          <p:nvSpPr>
            <p:cNvPr name="TextBox 17" id="17"/>
            <p:cNvSpPr txBox="true"/>
            <p:nvPr/>
          </p:nvSpPr>
          <p:spPr>
            <a:xfrm>
              <a:off x="0" y="19050"/>
              <a:ext cx="2963494" cy="69843"/>
            </a:xfrm>
            <a:prstGeom prst="rect">
              <a:avLst/>
            </a:prstGeom>
          </p:spPr>
          <p:txBody>
            <a:bodyPr anchor="ctr" rtlCol="false" tIns="50800" lIns="50800" bIns="50800" rIns="50800"/>
            <a:lstStyle/>
            <a:p>
              <a:pPr algn="ctr">
                <a:lnSpc>
                  <a:spcPts val="2251"/>
                </a:lnSpc>
              </a:pPr>
            </a:p>
          </p:txBody>
        </p:sp>
      </p:grpSp>
      <p:sp>
        <p:nvSpPr>
          <p:cNvPr name="TextBox 18" id="18"/>
          <p:cNvSpPr txBox="true"/>
          <p:nvPr/>
        </p:nvSpPr>
        <p:spPr>
          <a:xfrm rot="0">
            <a:off x="920845" y="6682806"/>
            <a:ext cx="17740900" cy="2252472"/>
          </a:xfrm>
          <a:prstGeom prst="rect">
            <a:avLst/>
          </a:prstGeom>
        </p:spPr>
        <p:txBody>
          <a:bodyPr anchor="t" rtlCol="false" tIns="0" lIns="0" bIns="0" rIns="0">
            <a:spAutoFit/>
          </a:bodyPr>
          <a:lstStyle/>
          <a:p>
            <a:pPr algn="l">
              <a:lnSpc>
                <a:spcPts val="3533"/>
              </a:lnSpc>
            </a:pPr>
            <a:r>
              <a:rPr lang="en-US" sz="3099" spc="142">
                <a:solidFill>
                  <a:srgbClr val="04458F"/>
                </a:solidFill>
                <a:latin typeface="Open Sauce"/>
                <a:ea typeface="Open Sauce"/>
                <a:cs typeface="Open Sauce"/>
                <a:sym typeface="Open Sauce"/>
              </a:rPr>
              <a:t>KELOMPOK 6</a:t>
            </a:r>
          </a:p>
          <a:p>
            <a:pPr algn="l">
              <a:lnSpc>
                <a:spcPts val="3533"/>
              </a:lnSpc>
            </a:pPr>
            <a:r>
              <a:rPr lang="en-US" sz="3099" spc="142">
                <a:solidFill>
                  <a:srgbClr val="04458F"/>
                </a:solidFill>
                <a:latin typeface="Open Sauce"/>
                <a:ea typeface="Open Sauce"/>
                <a:cs typeface="Open Sauce"/>
                <a:sym typeface="Open Sauce"/>
              </a:rPr>
              <a:t>UAS MATA KULIAH DATA WRANGLING</a:t>
            </a:r>
          </a:p>
          <a:p>
            <a:pPr algn="l">
              <a:lnSpc>
                <a:spcPts val="3533"/>
              </a:lnSpc>
            </a:pPr>
            <a:r>
              <a:rPr lang="en-US" sz="3099" spc="142">
                <a:solidFill>
                  <a:srgbClr val="04458F"/>
                </a:solidFill>
                <a:latin typeface="Open Sauce"/>
                <a:ea typeface="Open Sauce"/>
                <a:cs typeface="Open Sauce"/>
                <a:sym typeface="Open Sauce"/>
              </a:rPr>
              <a:t>Dosen Pengampu: </a:t>
            </a:r>
          </a:p>
          <a:p>
            <a:pPr algn="l">
              <a:lnSpc>
                <a:spcPts val="3533"/>
              </a:lnSpc>
            </a:pPr>
            <a:r>
              <a:rPr lang="en-US" sz="3099" spc="142">
                <a:solidFill>
                  <a:srgbClr val="04458F"/>
                </a:solidFill>
                <a:latin typeface="Open Sauce"/>
                <a:ea typeface="Open Sauce"/>
                <a:cs typeface="Open Sauce"/>
                <a:sym typeface="Open Sauce"/>
              </a:rPr>
              <a:t>Dinda Galuh Guminta, S.Stat.,M.Stat. (NIDN : 0011129602)</a:t>
            </a:r>
          </a:p>
          <a:p>
            <a:pPr algn="l" marL="0" indent="0" lvl="0">
              <a:lnSpc>
                <a:spcPts val="3533"/>
              </a:lnSpc>
            </a:pPr>
            <a:r>
              <a:rPr lang="en-US" sz="3099" spc="142">
                <a:solidFill>
                  <a:srgbClr val="04458F"/>
                </a:solidFill>
                <a:latin typeface="Open Sauce"/>
                <a:ea typeface="Open Sauce"/>
                <a:cs typeface="Open Sauce"/>
                <a:sym typeface="Open Sauce"/>
              </a:rPr>
              <a:t>Belgis Ainatul Iza, S.Si., M.Mat.  (NIP : 202509237)</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grpSp>
        <p:nvGrpSpPr>
          <p:cNvPr name="Group 6" id="6"/>
          <p:cNvGrpSpPr/>
          <p:nvPr/>
        </p:nvGrpSpPr>
        <p:grpSpPr>
          <a:xfrm rot="0">
            <a:off x="497164" y="431877"/>
            <a:ext cx="17790836" cy="9423247"/>
            <a:chOff x="0" y="0"/>
            <a:chExt cx="4685652" cy="2481843"/>
          </a:xfrm>
        </p:grpSpPr>
        <p:sp>
          <p:nvSpPr>
            <p:cNvPr name="Freeform 7" id="7"/>
            <p:cNvSpPr/>
            <p:nvPr/>
          </p:nvSpPr>
          <p:spPr>
            <a:xfrm flipH="false" flipV="false" rot="0">
              <a:off x="0" y="0"/>
              <a:ext cx="4685652" cy="2481843"/>
            </a:xfrm>
            <a:custGeom>
              <a:avLst/>
              <a:gdLst/>
              <a:ahLst/>
              <a:cxnLst/>
              <a:rect r="r" b="b" t="t" l="l"/>
              <a:pathLst>
                <a:path h="2481843" w="4685652">
                  <a:moveTo>
                    <a:pt x="0" y="0"/>
                  </a:moveTo>
                  <a:lnTo>
                    <a:pt x="4685652" y="0"/>
                  </a:lnTo>
                  <a:lnTo>
                    <a:pt x="4685652" y="2481843"/>
                  </a:lnTo>
                  <a:lnTo>
                    <a:pt x="0" y="2481843"/>
                  </a:lnTo>
                  <a:close/>
                </a:path>
              </a:pathLst>
            </a:custGeom>
            <a:solidFill>
              <a:srgbClr val="04458F"/>
            </a:solidFill>
          </p:spPr>
        </p:sp>
        <p:sp>
          <p:nvSpPr>
            <p:cNvPr name="TextBox 8" id="8"/>
            <p:cNvSpPr txBox="true"/>
            <p:nvPr/>
          </p:nvSpPr>
          <p:spPr>
            <a:xfrm>
              <a:off x="0" y="19050"/>
              <a:ext cx="4685652" cy="2462793"/>
            </a:xfrm>
            <a:prstGeom prst="rect">
              <a:avLst/>
            </a:prstGeom>
          </p:spPr>
          <p:txBody>
            <a:bodyPr anchor="ctr" rtlCol="false" tIns="50800" lIns="50800" bIns="50800" rIns="50800"/>
            <a:lstStyle/>
            <a:p>
              <a:pPr algn="ctr">
                <a:lnSpc>
                  <a:spcPts val="2251"/>
                </a:lnSpc>
              </a:pPr>
            </a:p>
          </p:txBody>
        </p:sp>
      </p:grpSp>
      <p:sp>
        <p:nvSpPr>
          <p:cNvPr name="TextBox 9" id="9"/>
          <p:cNvSpPr txBox="true"/>
          <p:nvPr/>
        </p:nvSpPr>
        <p:spPr>
          <a:xfrm rot="0">
            <a:off x="2108527" y="4213637"/>
            <a:ext cx="14568110" cy="1345375"/>
          </a:xfrm>
          <a:prstGeom prst="rect">
            <a:avLst/>
          </a:prstGeom>
        </p:spPr>
        <p:txBody>
          <a:bodyPr anchor="t" rtlCol="false" tIns="0" lIns="0" bIns="0" rIns="0">
            <a:spAutoFit/>
          </a:bodyPr>
          <a:lstStyle/>
          <a:p>
            <a:pPr algn="ctr" marL="0" indent="0" lvl="0">
              <a:lnSpc>
                <a:spcPts val="10787"/>
              </a:lnSpc>
            </a:pPr>
            <a:r>
              <a:rPr lang="en-US" b="true" sz="8629" i="true">
                <a:solidFill>
                  <a:srgbClr val="FFFFFF"/>
                </a:solidFill>
                <a:latin typeface="Open Sauce Bold Italics"/>
                <a:ea typeface="Open Sauce Bold Italics"/>
                <a:cs typeface="Open Sauce Bold Italics"/>
                <a:sym typeface="Open Sauce Bold Italics"/>
              </a:rPr>
              <a:t>PENDAHULUAN</a:t>
            </a:r>
          </a:p>
        </p:txBody>
      </p:sp>
      <p:grpSp>
        <p:nvGrpSpPr>
          <p:cNvPr name="Group 10" id="10"/>
          <p:cNvGrpSpPr/>
          <p:nvPr/>
        </p:nvGrpSpPr>
        <p:grpSpPr>
          <a:xfrm rot="0">
            <a:off x="6622374" y="9455750"/>
            <a:ext cx="11665626" cy="2028721"/>
            <a:chOff x="0" y="0"/>
            <a:chExt cx="3072428" cy="534313"/>
          </a:xfrm>
        </p:grpSpPr>
        <p:sp>
          <p:nvSpPr>
            <p:cNvPr name="Freeform 11" id="11"/>
            <p:cNvSpPr/>
            <p:nvPr/>
          </p:nvSpPr>
          <p:spPr>
            <a:xfrm flipH="false" flipV="false" rot="0">
              <a:off x="0" y="0"/>
              <a:ext cx="3072428" cy="534313"/>
            </a:xfrm>
            <a:custGeom>
              <a:avLst/>
              <a:gdLst/>
              <a:ahLst/>
              <a:cxnLst/>
              <a:rect r="r" b="b" t="t" l="l"/>
              <a:pathLst>
                <a:path h="534313" w="3072428">
                  <a:moveTo>
                    <a:pt x="0" y="0"/>
                  </a:moveTo>
                  <a:lnTo>
                    <a:pt x="3072428" y="0"/>
                  </a:lnTo>
                  <a:lnTo>
                    <a:pt x="3072428" y="534313"/>
                  </a:lnTo>
                  <a:lnTo>
                    <a:pt x="0" y="534313"/>
                  </a:lnTo>
                  <a:close/>
                </a:path>
              </a:pathLst>
            </a:custGeom>
            <a:solidFill>
              <a:srgbClr val="FFBD59"/>
            </a:solidFill>
          </p:spPr>
        </p:sp>
        <p:sp>
          <p:nvSpPr>
            <p:cNvPr name="TextBox 12" id="12"/>
            <p:cNvSpPr txBox="true"/>
            <p:nvPr/>
          </p:nvSpPr>
          <p:spPr>
            <a:xfrm>
              <a:off x="0" y="19050"/>
              <a:ext cx="3072428" cy="515263"/>
            </a:xfrm>
            <a:prstGeom prst="rect">
              <a:avLst/>
            </a:prstGeom>
          </p:spPr>
          <p:txBody>
            <a:bodyPr anchor="ctr" rtlCol="false" tIns="50800" lIns="50800" bIns="50800" rIns="50800"/>
            <a:lstStyle/>
            <a:p>
              <a:pPr algn="ctr">
                <a:lnSpc>
                  <a:spcPts val="2251"/>
                </a:lnSpc>
              </a:pPr>
            </a:p>
          </p:txBody>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036978" y="-2324634"/>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588814" y="1601295"/>
            <a:ext cx="7452693" cy="731727"/>
          </a:xfrm>
          <a:prstGeom prst="rect">
            <a:avLst/>
          </a:prstGeom>
        </p:spPr>
        <p:txBody>
          <a:bodyPr anchor="t" rtlCol="false" tIns="0" lIns="0" bIns="0" rIns="0">
            <a:spAutoFit/>
          </a:bodyPr>
          <a:lstStyle/>
          <a:p>
            <a:pPr algn="l" marL="0" indent="0" lvl="0">
              <a:lnSpc>
                <a:spcPts val="5277"/>
              </a:lnSpc>
              <a:spcBef>
                <a:spcPct val="0"/>
              </a:spcBef>
            </a:pPr>
            <a:r>
              <a:rPr lang="en-US" b="true" sz="6137" i="true">
                <a:solidFill>
                  <a:srgbClr val="04458F"/>
                </a:solidFill>
                <a:latin typeface="Open Sauce Bold Italics"/>
                <a:ea typeface="Open Sauce Bold Italics"/>
                <a:cs typeface="Open Sauce Bold Italics"/>
                <a:sym typeface="Open Sauce Bold Italics"/>
              </a:rPr>
              <a:t>LATAR BELAKANG</a:t>
            </a:r>
          </a:p>
        </p:txBody>
      </p:sp>
      <p:grpSp>
        <p:nvGrpSpPr>
          <p:cNvPr name="Group 6" id="6"/>
          <p:cNvGrpSpPr/>
          <p:nvPr/>
        </p:nvGrpSpPr>
        <p:grpSpPr>
          <a:xfrm rot="0">
            <a:off x="-351656" y="-239763"/>
            <a:ext cx="4013896" cy="2106909"/>
            <a:chOff x="0" y="0"/>
            <a:chExt cx="1122609" cy="589261"/>
          </a:xfrm>
        </p:grpSpPr>
        <p:sp>
          <p:nvSpPr>
            <p:cNvPr name="Freeform 7" id="7"/>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8" id="8"/>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9" id="9"/>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10" id="10"/>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TextBox 14" id="14"/>
          <p:cNvSpPr txBox="true"/>
          <p:nvPr/>
        </p:nvSpPr>
        <p:spPr>
          <a:xfrm rot="0">
            <a:off x="2360682" y="2664727"/>
            <a:ext cx="13908956" cy="5586603"/>
          </a:xfrm>
          <a:prstGeom prst="rect">
            <a:avLst/>
          </a:prstGeom>
        </p:spPr>
        <p:txBody>
          <a:bodyPr anchor="t" rtlCol="false" tIns="0" lIns="0" bIns="0" rIns="0">
            <a:spAutoFit/>
          </a:bodyPr>
          <a:lstStyle/>
          <a:p>
            <a:pPr algn="just">
              <a:lnSpc>
                <a:spcPts val="3696"/>
              </a:lnSpc>
            </a:pPr>
            <a:r>
              <a:rPr lang="en-US" sz="2800">
                <a:solidFill>
                  <a:srgbClr val="04458F"/>
                </a:solidFill>
                <a:latin typeface="Open Sauce"/>
                <a:ea typeface="Open Sauce"/>
                <a:cs typeface="Open Sauce"/>
                <a:sym typeface="Open Sauce"/>
              </a:rPr>
              <a:t>Pemanfaatan data digital dalam analisis sosial ekonomi menjadi kebutuhan penting terutama karena banyak instansi menyediakan data secara terbuka namun dalam kondisi yang tidak selalu rapi dan sulit untuk langsung dianalisis (raw data). Oleh karena itu, dibutuhkan proses wrangling mulai dari collecting hingga EDA untuk menyediakan data baru untuk di eksplorasi. Tingkat kriminalitas merupakan indikator utama stabilitas keamanan suatu negara. Sepanjang tahun 2021–2023, data menunjukkan adanya tren peningkatan jumlah tindak pidana di Indonesia yang signifikan, yang menuntut perhatian khusus terkait faktor pemicunya demi menjaga ketertiban masyarakat. Secara umum, kejahatan sering dikaitkan dengan desakan ekonomi (kemiskinan dan pengangguran) serta kesejahteraan masyarakatnya. Diperlukan analisis data untuk membuktikan apakah pernyataan itu benar atau salah.</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51656" y="-239763"/>
            <a:ext cx="4013896" cy="2106909"/>
            <a:chOff x="0" y="0"/>
            <a:chExt cx="1122609" cy="589261"/>
          </a:xfrm>
        </p:grpSpPr>
        <p:sp>
          <p:nvSpPr>
            <p:cNvPr name="Freeform 4" id="4"/>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5" id="5"/>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3"/>
            <a:stretch>
              <a:fillRect l="-2237" t="0" r="-2237" b="0"/>
            </a:stretch>
          </a:blipFill>
        </p:spPr>
      </p:sp>
      <p:sp>
        <p:nvSpPr>
          <p:cNvPr name="Freeform 7" id="7"/>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4"/>
            <a:stretch>
              <a:fillRect l="-2237" t="0" r="-2237" b="0"/>
            </a:stretch>
          </a:blipFill>
        </p:spPr>
      </p:sp>
      <p:grpSp>
        <p:nvGrpSpPr>
          <p:cNvPr name="Group 8" id="8"/>
          <p:cNvGrpSpPr/>
          <p:nvPr/>
        </p:nvGrpSpPr>
        <p:grpSpPr>
          <a:xfrm rot="0">
            <a:off x="10619815" y="9648825"/>
            <a:ext cx="8105572" cy="5310057"/>
            <a:chOff x="0" y="0"/>
            <a:chExt cx="2134801" cy="1398534"/>
          </a:xfrm>
        </p:grpSpPr>
        <p:sp>
          <p:nvSpPr>
            <p:cNvPr name="Freeform 9" id="9"/>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0" id="10"/>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1" id="11"/>
          <p:cNvSpPr/>
          <p:nvPr/>
        </p:nvSpPr>
        <p:spPr>
          <a:xfrm flipH="false" flipV="false" rot="0">
            <a:off x="270629" y="3408261"/>
            <a:ext cx="6783222" cy="6240564"/>
          </a:xfrm>
          <a:custGeom>
            <a:avLst/>
            <a:gdLst/>
            <a:ahLst/>
            <a:cxnLst/>
            <a:rect r="r" b="b" t="t" l="l"/>
            <a:pathLst>
              <a:path h="6240564" w="6783222">
                <a:moveTo>
                  <a:pt x="0" y="0"/>
                </a:moveTo>
                <a:lnTo>
                  <a:pt x="6783222" y="0"/>
                </a:lnTo>
                <a:lnTo>
                  <a:pt x="6783222" y="6240564"/>
                </a:lnTo>
                <a:lnTo>
                  <a:pt x="0" y="6240564"/>
                </a:lnTo>
                <a:lnTo>
                  <a:pt x="0" y="0"/>
                </a:lnTo>
                <a:close/>
              </a:path>
            </a:pathLst>
          </a:custGeom>
          <a:blipFill>
            <a:blip r:embed="rId5"/>
            <a:stretch>
              <a:fillRect l="0" t="0" r="0" b="0"/>
            </a:stretch>
          </a:blipFill>
        </p:spPr>
      </p:sp>
      <p:sp>
        <p:nvSpPr>
          <p:cNvPr name="Freeform 12" id="12"/>
          <p:cNvSpPr/>
          <p:nvPr/>
        </p:nvSpPr>
        <p:spPr>
          <a:xfrm flipH="false" flipV="false" rot="0">
            <a:off x="12042163" y="3160447"/>
            <a:ext cx="5888133" cy="6356958"/>
          </a:xfrm>
          <a:custGeom>
            <a:avLst/>
            <a:gdLst/>
            <a:ahLst/>
            <a:cxnLst/>
            <a:rect r="r" b="b" t="t" l="l"/>
            <a:pathLst>
              <a:path h="6356958" w="5888133">
                <a:moveTo>
                  <a:pt x="0" y="0"/>
                </a:moveTo>
                <a:lnTo>
                  <a:pt x="5888133" y="0"/>
                </a:lnTo>
                <a:lnTo>
                  <a:pt x="5888133" y="6356958"/>
                </a:lnTo>
                <a:lnTo>
                  <a:pt x="0" y="6356958"/>
                </a:lnTo>
                <a:lnTo>
                  <a:pt x="0" y="0"/>
                </a:lnTo>
                <a:close/>
              </a:path>
            </a:pathLst>
          </a:custGeom>
          <a:blipFill>
            <a:blip r:embed="rId6"/>
            <a:stretch>
              <a:fillRect l="0" t="0" r="0" b="0"/>
            </a:stretch>
          </a:blipFill>
        </p:spPr>
      </p:sp>
      <p:sp>
        <p:nvSpPr>
          <p:cNvPr name="Freeform 13" id="13"/>
          <p:cNvSpPr/>
          <p:nvPr/>
        </p:nvSpPr>
        <p:spPr>
          <a:xfrm flipH="false" flipV="false" rot="0">
            <a:off x="5622726" y="-268"/>
            <a:ext cx="6419437" cy="6339194"/>
          </a:xfrm>
          <a:custGeom>
            <a:avLst/>
            <a:gdLst/>
            <a:ahLst/>
            <a:cxnLst/>
            <a:rect r="r" b="b" t="t" l="l"/>
            <a:pathLst>
              <a:path h="6339194" w="6419437">
                <a:moveTo>
                  <a:pt x="0" y="0"/>
                </a:moveTo>
                <a:lnTo>
                  <a:pt x="6419437" y="0"/>
                </a:lnTo>
                <a:lnTo>
                  <a:pt x="6419437" y="6339194"/>
                </a:lnTo>
                <a:lnTo>
                  <a:pt x="0" y="6339194"/>
                </a:lnTo>
                <a:lnTo>
                  <a:pt x="0" y="0"/>
                </a:lnTo>
                <a:close/>
              </a:path>
            </a:pathLst>
          </a:custGeom>
          <a:blipFill>
            <a:blip r:embed="rId7"/>
            <a:stretch>
              <a:fillRect l="0" t="0" r="0" b="0"/>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036978" y="-2324634"/>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794845" y="1601295"/>
            <a:ext cx="8698309" cy="731727"/>
          </a:xfrm>
          <a:prstGeom prst="rect">
            <a:avLst/>
          </a:prstGeom>
        </p:spPr>
        <p:txBody>
          <a:bodyPr anchor="t" rtlCol="false" tIns="0" lIns="0" bIns="0" rIns="0">
            <a:spAutoFit/>
          </a:bodyPr>
          <a:lstStyle/>
          <a:p>
            <a:pPr algn="l" marL="0" indent="0" lvl="0">
              <a:lnSpc>
                <a:spcPts val="5277"/>
              </a:lnSpc>
              <a:spcBef>
                <a:spcPct val="0"/>
              </a:spcBef>
            </a:pPr>
            <a:r>
              <a:rPr lang="en-US" b="true" sz="6137" i="true">
                <a:solidFill>
                  <a:srgbClr val="04458F"/>
                </a:solidFill>
                <a:latin typeface="Open Sauce Bold Italics"/>
                <a:ea typeface="Open Sauce Bold Italics"/>
                <a:cs typeface="Open Sauce Bold Italics"/>
                <a:sym typeface="Open Sauce Bold Italics"/>
              </a:rPr>
              <a:t>RUMUSAN MASALAH</a:t>
            </a:r>
          </a:p>
        </p:txBody>
      </p:sp>
      <p:grpSp>
        <p:nvGrpSpPr>
          <p:cNvPr name="Group 6" id="6"/>
          <p:cNvGrpSpPr/>
          <p:nvPr/>
        </p:nvGrpSpPr>
        <p:grpSpPr>
          <a:xfrm rot="0">
            <a:off x="-351656" y="-239763"/>
            <a:ext cx="4013896" cy="2106909"/>
            <a:chOff x="0" y="0"/>
            <a:chExt cx="1122609" cy="589261"/>
          </a:xfrm>
        </p:grpSpPr>
        <p:sp>
          <p:nvSpPr>
            <p:cNvPr name="Freeform 7" id="7"/>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8" id="8"/>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9" id="9"/>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10" id="10"/>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TextBox 14" id="14"/>
          <p:cNvSpPr txBox="true"/>
          <p:nvPr/>
        </p:nvSpPr>
        <p:spPr>
          <a:xfrm rot="0">
            <a:off x="2388154" y="2945898"/>
            <a:ext cx="13511693" cy="3568827"/>
          </a:xfrm>
          <a:prstGeom prst="rect">
            <a:avLst/>
          </a:prstGeom>
        </p:spPr>
        <p:txBody>
          <a:bodyPr anchor="t" rtlCol="false" tIns="0" lIns="0" bIns="0" rIns="0">
            <a:spAutoFit/>
          </a:bodyPr>
          <a:lstStyle/>
          <a:p>
            <a:pPr algn="just" marL="582930" indent="-291465" lvl="1">
              <a:lnSpc>
                <a:spcPts val="3564"/>
              </a:lnSpc>
              <a:buFont typeface="Arial"/>
              <a:buChar char="•"/>
            </a:pPr>
            <a:r>
              <a:rPr lang="en-US" b="true" sz="2700">
                <a:solidFill>
                  <a:srgbClr val="04458F"/>
                </a:solidFill>
                <a:latin typeface="Open Sauce Bold"/>
                <a:ea typeface="Open Sauce Bold"/>
                <a:cs typeface="Open Sauce Bold"/>
                <a:sym typeface="Open Sauce Bold"/>
              </a:rPr>
              <a:t>Bagaimana faktor-faktor sosial ekonomi dan kesejahteraan masyarakat berpengaruh terhadap jumlah tindak pidana?</a:t>
            </a:r>
          </a:p>
          <a:p>
            <a:pPr algn="just">
              <a:lnSpc>
                <a:spcPts val="3564"/>
              </a:lnSpc>
            </a:pPr>
          </a:p>
          <a:p>
            <a:pPr algn="just" marL="582930" indent="-291465" lvl="1">
              <a:lnSpc>
                <a:spcPts val="3564"/>
              </a:lnSpc>
              <a:buFont typeface="Arial"/>
              <a:buChar char="•"/>
            </a:pPr>
            <a:r>
              <a:rPr lang="en-US" b="true" sz="2700">
                <a:solidFill>
                  <a:srgbClr val="04458F"/>
                </a:solidFill>
                <a:latin typeface="Open Sauce Bold"/>
                <a:ea typeface="Open Sauce Bold"/>
                <a:cs typeface="Open Sauce Bold"/>
                <a:sym typeface="Open Sauce Bold"/>
              </a:rPr>
              <a:t>Visualisasi apa saja yang bisa menggambarkan korelasi/keterkaitan antar variabel-variabel yang ada dengan jumlah tindak pidana?</a:t>
            </a:r>
          </a:p>
          <a:p>
            <a:pPr algn="just">
              <a:lnSpc>
                <a:spcPts val="3564"/>
              </a:lnSpc>
            </a:pPr>
          </a:p>
          <a:p>
            <a:pPr algn="just" marL="582930" indent="-291465" lvl="1">
              <a:lnSpc>
                <a:spcPts val="3564"/>
              </a:lnSpc>
              <a:buFont typeface="Arial"/>
              <a:buChar char="•"/>
            </a:pPr>
            <a:r>
              <a:rPr lang="en-US" b="true" sz="2700">
                <a:solidFill>
                  <a:srgbClr val="04458F"/>
                </a:solidFill>
                <a:latin typeface="Open Sauce Bold"/>
                <a:ea typeface="Open Sauce Bold"/>
                <a:cs typeface="Open Sauce Bold"/>
                <a:sym typeface="Open Sauce Bold"/>
              </a:rPr>
              <a:t>Tidak tersedianya dataset matang tentang  beberapa faktor sosial ekonomi tehadap jumlah pidana</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036978" y="-2324634"/>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388951" y="1347396"/>
            <a:ext cx="4349155" cy="731727"/>
          </a:xfrm>
          <a:prstGeom prst="rect">
            <a:avLst/>
          </a:prstGeom>
        </p:spPr>
        <p:txBody>
          <a:bodyPr anchor="t" rtlCol="false" tIns="0" lIns="0" bIns="0" rIns="0">
            <a:spAutoFit/>
          </a:bodyPr>
          <a:lstStyle/>
          <a:p>
            <a:pPr algn="l" marL="0" indent="0" lvl="0">
              <a:lnSpc>
                <a:spcPts val="5277"/>
              </a:lnSpc>
              <a:spcBef>
                <a:spcPct val="0"/>
              </a:spcBef>
            </a:pPr>
            <a:r>
              <a:rPr lang="en-US" b="true" sz="6137" i="true">
                <a:solidFill>
                  <a:srgbClr val="04458F"/>
                </a:solidFill>
                <a:latin typeface="Open Sauce Bold Italics"/>
                <a:ea typeface="Open Sauce Bold Italics"/>
                <a:cs typeface="Open Sauce Bold Italics"/>
                <a:sym typeface="Open Sauce Bold Italics"/>
              </a:rPr>
              <a:t>TUJUAN</a:t>
            </a:r>
          </a:p>
        </p:txBody>
      </p:sp>
      <p:grpSp>
        <p:nvGrpSpPr>
          <p:cNvPr name="Group 6" id="6"/>
          <p:cNvGrpSpPr/>
          <p:nvPr/>
        </p:nvGrpSpPr>
        <p:grpSpPr>
          <a:xfrm rot="0">
            <a:off x="-351656" y="-239763"/>
            <a:ext cx="4013896" cy="2106909"/>
            <a:chOff x="0" y="0"/>
            <a:chExt cx="1122609" cy="589261"/>
          </a:xfrm>
        </p:grpSpPr>
        <p:sp>
          <p:nvSpPr>
            <p:cNvPr name="Freeform 7" id="7"/>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8" id="8"/>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9" id="9"/>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10" id="10"/>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TextBox 14" id="14"/>
          <p:cNvSpPr txBox="true"/>
          <p:nvPr/>
        </p:nvSpPr>
        <p:spPr>
          <a:xfrm rot="0">
            <a:off x="2056174" y="2655202"/>
            <a:ext cx="14175652" cy="5595630"/>
          </a:xfrm>
          <a:prstGeom prst="rect">
            <a:avLst/>
          </a:prstGeom>
        </p:spPr>
        <p:txBody>
          <a:bodyPr anchor="t" rtlCol="false" tIns="0" lIns="0" bIns="0" rIns="0">
            <a:spAutoFit/>
          </a:bodyPr>
          <a:lstStyle/>
          <a:p>
            <a:pPr algn="just" marL="611575" indent="-305787" lvl="1">
              <a:lnSpc>
                <a:spcPts val="3739"/>
              </a:lnSpc>
              <a:buFont typeface="Arial"/>
              <a:buChar char="•"/>
            </a:pPr>
            <a:r>
              <a:rPr lang="en-US" b="true" sz="2832">
                <a:solidFill>
                  <a:srgbClr val="04458F"/>
                </a:solidFill>
                <a:latin typeface="Open Sauce Bold"/>
                <a:ea typeface="Open Sauce Bold"/>
                <a:cs typeface="Open Sauce Bold"/>
                <a:sym typeface="Open Sauce Bold"/>
              </a:rPr>
              <a:t>Mengetahui Faktor manakah di antara ketiga variabel independen (IPM, Kemiskinan, Pengangguran) yang memiliki hubungan paling kuat dan konsisten terhadap jumlah tindak pidana</a:t>
            </a:r>
          </a:p>
          <a:p>
            <a:pPr algn="just">
              <a:lnSpc>
                <a:spcPts val="3739"/>
              </a:lnSpc>
            </a:pPr>
          </a:p>
          <a:p>
            <a:pPr algn="just" marL="611575" indent="-305787" lvl="1">
              <a:lnSpc>
                <a:spcPts val="3739"/>
              </a:lnSpc>
              <a:buFont typeface="Arial"/>
              <a:buChar char="•"/>
            </a:pPr>
            <a:r>
              <a:rPr lang="en-US" b="true" sz="2832">
                <a:solidFill>
                  <a:srgbClr val="04458F"/>
                </a:solidFill>
                <a:latin typeface="Open Sauce Bold"/>
                <a:ea typeface="Open Sauce Bold"/>
                <a:cs typeface="Open Sauce Bold"/>
                <a:sym typeface="Open Sauce Bold"/>
              </a:rPr>
              <a:t>Menganalisis dan mengukur pengaruh IPM, Kemiskinan, dan Pengangguran sebagai faktor penyebab naik-turunnya jumlah tindak pidana di Indonesia.</a:t>
            </a:r>
          </a:p>
          <a:p>
            <a:pPr algn="just">
              <a:lnSpc>
                <a:spcPts val="3739"/>
              </a:lnSpc>
            </a:pPr>
          </a:p>
          <a:p>
            <a:pPr algn="just" marL="611575" indent="-305787" lvl="1">
              <a:lnSpc>
                <a:spcPts val="3739"/>
              </a:lnSpc>
              <a:buFont typeface="Arial"/>
              <a:buChar char="•"/>
            </a:pPr>
            <a:r>
              <a:rPr lang="en-US" b="true" sz="2832">
                <a:solidFill>
                  <a:srgbClr val="04458F"/>
                </a:solidFill>
                <a:latin typeface="Open Sauce Bold"/>
                <a:ea typeface="Open Sauce Bold"/>
                <a:cs typeface="Open Sauce Bold"/>
                <a:sym typeface="Open Sauce Bold"/>
              </a:rPr>
              <a:t>Menambah literatur mengenai kriminologi dan sosiologi ekonomi, khususnya dalam membantah atau menguji teori  yang selalu menganggap kemiskinan sebagai akar tunggal kejahatan.</a:t>
            </a:r>
          </a:p>
          <a:p>
            <a:pPr algn="just">
              <a:lnSpc>
                <a:spcPts val="3739"/>
              </a:lnSpc>
            </a:pPr>
          </a:p>
          <a:p>
            <a:pPr algn="just">
              <a:lnSpc>
                <a:spcPts val="3739"/>
              </a:lnSpc>
            </a:pP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036978" y="-2324634"/>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6969423" y="2067171"/>
            <a:ext cx="4349155" cy="731727"/>
          </a:xfrm>
          <a:prstGeom prst="rect">
            <a:avLst/>
          </a:prstGeom>
        </p:spPr>
        <p:txBody>
          <a:bodyPr anchor="t" rtlCol="false" tIns="0" lIns="0" bIns="0" rIns="0">
            <a:spAutoFit/>
          </a:bodyPr>
          <a:lstStyle/>
          <a:p>
            <a:pPr algn="l" marL="0" indent="0" lvl="0">
              <a:lnSpc>
                <a:spcPts val="5277"/>
              </a:lnSpc>
              <a:spcBef>
                <a:spcPct val="0"/>
              </a:spcBef>
            </a:pPr>
            <a:r>
              <a:rPr lang="en-US" b="true" sz="6137" i="true">
                <a:solidFill>
                  <a:srgbClr val="04458F"/>
                </a:solidFill>
                <a:latin typeface="Open Sauce Bold Italics"/>
                <a:ea typeface="Open Sauce Bold Italics"/>
                <a:cs typeface="Open Sauce Bold Italics"/>
                <a:sym typeface="Open Sauce Bold Italics"/>
              </a:rPr>
              <a:t>MANFAAT</a:t>
            </a:r>
          </a:p>
        </p:txBody>
      </p:sp>
      <p:grpSp>
        <p:nvGrpSpPr>
          <p:cNvPr name="Group 6" id="6"/>
          <p:cNvGrpSpPr/>
          <p:nvPr/>
        </p:nvGrpSpPr>
        <p:grpSpPr>
          <a:xfrm rot="0">
            <a:off x="-351656" y="-239763"/>
            <a:ext cx="4013896" cy="2106909"/>
            <a:chOff x="0" y="0"/>
            <a:chExt cx="1122609" cy="589261"/>
          </a:xfrm>
        </p:grpSpPr>
        <p:sp>
          <p:nvSpPr>
            <p:cNvPr name="Freeform 7" id="7"/>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8" id="8"/>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9" id="9"/>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10" id="10"/>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TextBox 14" id="14"/>
          <p:cNvSpPr txBox="true"/>
          <p:nvPr/>
        </p:nvSpPr>
        <p:spPr>
          <a:xfrm rot="0">
            <a:off x="2559314" y="3627939"/>
            <a:ext cx="13327611" cy="3728730"/>
          </a:xfrm>
          <a:prstGeom prst="rect">
            <a:avLst/>
          </a:prstGeom>
        </p:spPr>
        <p:txBody>
          <a:bodyPr anchor="t" rtlCol="false" tIns="0" lIns="0" bIns="0" rIns="0">
            <a:spAutoFit/>
          </a:bodyPr>
          <a:lstStyle/>
          <a:p>
            <a:pPr algn="just" marL="611575" indent="-305787" lvl="1">
              <a:lnSpc>
                <a:spcPts val="3739"/>
              </a:lnSpc>
              <a:buFont typeface="Arial"/>
              <a:buChar char="•"/>
            </a:pPr>
            <a:r>
              <a:rPr lang="en-US" b="true" sz="2832">
                <a:solidFill>
                  <a:srgbClr val="04458F"/>
                </a:solidFill>
                <a:latin typeface="Open Sauce Bold"/>
                <a:ea typeface="Open Sauce Bold"/>
                <a:cs typeface="Open Sauce Bold"/>
                <a:sym typeface="Open Sauce Bold"/>
              </a:rPr>
              <a:t>Meningkatkan keterampilan / memberi insight tentang mengumpulkan dan  mengolah data dari sumber resmi.</a:t>
            </a:r>
          </a:p>
          <a:p>
            <a:pPr algn="just">
              <a:lnSpc>
                <a:spcPts val="3739"/>
              </a:lnSpc>
            </a:pPr>
          </a:p>
          <a:p>
            <a:pPr algn="just" marL="611575" indent="-305787" lvl="1">
              <a:lnSpc>
                <a:spcPts val="3739"/>
              </a:lnSpc>
              <a:buFont typeface="Arial"/>
              <a:buChar char="•"/>
            </a:pPr>
            <a:r>
              <a:rPr lang="en-US" b="true" sz="2832">
                <a:solidFill>
                  <a:srgbClr val="04458F"/>
                </a:solidFill>
                <a:latin typeface="Open Sauce Bold"/>
                <a:ea typeface="Open Sauce Bold"/>
                <a:cs typeface="Open Sauce Bold"/>
                <a:sym typeface="Open Sauce Bold"/>
              </a:rPr>
              <a:t>Menyediakan dataset baru yang terintegrasi dan dapat digunakan sebagai analisis lanjutan.</a:t>
            </a:r>
          </a:p>
          <a:p>
            <a:pPr algn="just">
              <a:lnSpc>
                <a:spcPts val="3739"/>
              </a:lnSpc>
            </a:pPr>
          </a:p>
          <a:p>
            <a:pPr algn="just" marL="611575" indent="-305787" lvl="1">
              <a:lnSpc>
                <a:spcPts val="3739"/>
              </a:lnSpc>
              <a:buFont typeface="Arial"/>
              <a:buChar char="•"/>
            </a:pPr>
            <a:r>
              <a:rPr lang="en-US" b="true" sz="2832">
                <a:solidFill>
                  <a:srgbClr val="04458F"/>
                </a:solidFill>
                <a:latin typeface="Open Sauce Bold"/>
                <a:ea typeface="Open Sauce Bold"/>
                <a:cs typeface="Open Sauce Bold"/>
                <a:sym typeface="Open Sauce Bold"/>
              </a:rPr>
              <a:t>Menjadi referensi dan insight bagi mahasiswa lain tentang faktor-faktor yang mempengaruhi jumlah tindak pidana</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grpSp>
        <p:nvGrpSpPr>
          <p:cNvPr name="Group 6" id="6"/>
          <p:cNvGrpSpPr/>
          <p:nvPr/>
        </p:nvGrpSpPr>
        <p:grpSpPr>
          <a:xfrm rot="0">
            <a:off x="497164" y="431877"/>
            <a:ext cx="17790836" cy="9423247"/>
            <a:chOff x="0" y="0"/>
            <a:chExt cx="4685652" cy="2481843"/>
          </a:xfrm>
        </p:grpSpPr>
        <p:sp>
          <p:nvSpPr>
            <p:cNvPr name="Freeform 7" id="7"/>
            <p:cNvSpPr/>
            <p:nvPr/>
          </p:nvSpPr>
          <p:spPr>
            <a:xfrm flipH="false" flipV="false" rot="0">
              <a:off x="0" y="0"/>
              <a:ext cx="4685652" cy="2481843"/>
            </a:xfrm>
            <a:custGeom>
              <a:avLst/>
              <a:gdLst/>
              <a:ahLst/>
              <a:cxnLst/>
              <a:rect r="r" b="b" t="t" l="l"/>
              <a:pathLst>
                <a:path h="2481843" w="4685652">
                  <a:moveTo>
                    <a:pt x="0" y="0"/>
                  </a:moveTo>
                  <a:lnTo>
                    <a:pt x="4685652" y="0"/>
                  </a:lnTo>
                  <a:lnTo>
                    <a:pt x="4685652" y="2481843"/>
                  </a:lnTo>
                  <a:lnTo>
                    <a:pt x="0" y="2481843"/>
                  </a:lnTo>
                  <a:close/>
                </a:path>
              </a:pathLst>
            </a:custGeom>
            <a:solidFill>
              <a:srgbClr val="04458F"/>
            </a:solidFill>
          </p:spPr>
        </p:sp>
        <p:sp>
          <p:nvSpPr>
            <p:cNvPr name="TextBox 8" id="8"/>
            <p:cNvSpPr txBox="true"/>
            <p:nvPr/>
          </p:nvSpPr>
          <p:spPr>
            <a:xfrm>
              <a:off x="0" y="19050"/>
              <a:ext cx="4685652" cy="2462793"/>
            </a:xfrm>
            <a:prstGeom prst="rect">
              <a:avLst/>
            </a:prstGeom>
          </p:spPr>
          <p:txBody>
            <a:bodyPr anchor="ctr" rtlCol="false" tIns="50800" lIns="50800" bIns="50800" rIns="50800"/>
            <a:lstStyle/>
            <a:p>
              <a:pPr algn="ctr">
                <a:lnSpc>
                  <a:spcPts val="2251"/>
                </a:lnSpc>
              </a:pPr>
            </a:p>
          </p:txBody>
        </p:sp>
      </p:grpSp>
      <p:sp>
        <p:nvSpPr>
          <p:cNvPr name="TextBox 9" id="9"/>
          <p:cNvSpPr txBox="true"/>
          <p:nvPr/>
        </p:nvSpPr>
        <p:spPr>
          <a:xfrm rot="0">
            <a:off x="2108527" y="4213637"/>
            <a:ext cx="14568110" cy="1345375"/>
          </a:xfrm>
          <a:prstGeom prst="rect">
            <a:avLst/>
          </a:prstGeom>
        </p:spPr>
        <p:txBody>
          <a:bodyPr anchor="t" rtlCol="false" tIns="0" lIns="0" bIns="0" rIns="0">
            <a:spAutoFit/>
          </a:bodyPr>
          <a:lstStyle/>
          <a:p>
            <a:pPr algn="ctr" marL="0" indent="0" lvl="0">
              <a:lnSpc>
                <a:spcPts val="10787"/>
              </a:lnSpc>
            </a:pPr>
            <a:r>
              <a:rPr lang="en-US" b="true" sz="8629" i="true">
                <a:solidFill>
                  <a:srgbClr val="FFFFFF"/>
                </a:solidFill>
                <a:latin typeface="Open Sauce Bold Italics"/>
                <a:ea typeface="Open Sauce Bold Italics"/>
                <a:cs typeface="Open Sauce Bold Italics"/>
                <a:sym typeface="Open Sauce Bold Italics"/>
              </a:rPr>
              <a:t>DIAGRAM ALUR</a:t>
            </a:r>
          </a:p>
        </p:txBody>
      </p:sp>
      <p:grpSp>
        <p:nvGrpSpPr>
          <p:cNvPr name="Group 10" id="10"/>
          <p:cNvGrpSpPr/>
          <p:nvPr/>
        </p:nvGrpSpPr>
        <p:grpSpPr>
          <a:xfrm rot="0">
            <a:off x="6622374" y="9455750"/>
            <a:ext cx="11665626" cy="2028721"/>
            <a:chOff x="0" y="0"/>
            <a:chExt cx="3072428" cy="534313"/>
          </a:xfrm>
        </p:grpSpPr>
        <p:sp>
          <p:nvSpPr>
            <p:cNvPr name="Freeform 11" id="11"/>
            <p:cNvSpPr/>
            <p:nvPr/>
          </p:nvSpPr>
          <p:spPr>
            <a:xfrm flipH="false" flipV="false" rot="0">
              <a:off x="0" y="0"/>
              <a:ext cx="3072428" cy="534313"/>
            </a:xfrm>
            <a:custGeom>
              <a:avLst/>
              <a:gdLst/>
              <a:ahLst/>
              <a:cxnLst/>
              <a:rect r="r" b="b" t="t" l="l"/>
              <a:pathLst>
                <a:path h="534313" w="3072428">
                  <a:moveTo>
                    <a:pt x="0" y="0"/>
                  </a:moveTo>
                  <a:lnTo>
                    <a:pt x="3072428" y="0"/>
                  </a:lnTo>
                  <a:lnTo>
                    <a:pt x="3072428" y="534313"/>
                  </a:lnTo>
                  <a:lnTo>
                    <a:pt x="0" y="534313"/>
                  </a:lnTo>
                  <a:close/>
                </a:path>
              </a:pathLst>
            </a:custGeom>
            <a:solidFill>
              <a:srgbClr val="FFBD59"/>
            </a:solidFill>
          </p:spPr>
        </p:sp>
        <p:sp>
          <p:nvSpPr>
            <p:cNvPr name="TextBox 12" id="12"/>
            <p:cNvSpPr txBox="true"/>
            <p:nvPr/>
          </p:nvSpPr>
          <p:spPr>
            <a:xfrm>
              <a:off x="0" y="19050"/>
              <a:ext cx="3072428" cy="515263"/>
            </a:xfrm>
            <a:prstGeom prst="rect">
              <a:avLst/>
            </a:prstGeom>
          </p:spPr>
          <p:txBody>
            <a:bodyPr anchor="ctr" rtlCol="false" tIns="50800" lIns="50800" bIns="50800" rIns="50800"/>
            <a:lstStyle/>
            <a:p>
              <a:pPr algn="ctr">
                <a:lnSpc>
                  <a:spcPts val="2251"/>
                </a:lnSpc>
              </a:pPr>
            </a:p>
          </p:txBody>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4036978" y="-2324634"/>
            <a:ext cx="6151581" cy="6151581"/>
          </a:xfrm>
          <a:custGeom>
            <a:avLst/>
            <a:gdLst/>
            <a:ahLst/>
            <a:cxnLst/>
            <a:rect r="r" b="b" t="t" l="l"/>
            <a:pathLst>
              <a:path h="6151581" w="6151581">
                <a:moveTo>
                  <a:pt x="0" y="0"/>
                </a:moveTo>
                <a:lnTo>
                  <a:pt x="6151580" y="0"/>
                </a:lnTo>
                <a:lnTo>
                  <a:pt x="6151580"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51656" y="-239763"/>
            <a:ext cx="4013896" cy="2106909"/>
            <a:chOff x="0" y="0"/>
            <a:chExt cx="1122609" cy="589261"/>
          </a:xfrm>
        </p:grpSpPr>
        <p:sp>
          <p:nvSpPr>
            <p:cNvPr name="Freeform 6" id="6"/>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7" id="7"/>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8" id="8"/>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9" id="9"/>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0" id="10"/>
          <p:cNvGrpSpPr/>
          <p:nvPr/>
        </p:nvGrpSpPr>
        <p:grpSpPr>
          <a:xfrm rot="0">
            <a:off x="10905565" y="9648825"/>
            <a:ext cx="8105572" cy="5310057"/>
            <a:chOff x="0" y="0"/>
            <a:chExt cx="2134801" cy="1398534"/>
          </a:xfrm>
        </p:grpSpPr>
        <p:sp>
          <p:nvSpPr>
            <p:cNvPr name="Freeform 11" id="11"/>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2" id="12"/>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3" id="13"/>
          <p:cNvSpPr/>
          <p:nvPr/>
        </p:nvSpPr>
        <p:spPr>
          <a:xfrm flipH="false" flipV="false" rot="-5400000">
            <a:off x="4544555" y="1583308"/>
            <a:ext cx="8177118" cy="8177118"/>
          </a:xfrm>
          <a:custGeom>
            <a:avLst/>
            <a:gdLst/>
            <a:ahLst/>
            <a:cxnLst/>
            <a:rect r="r" b="b" t="t" l="l"/>
            <a:pathLst>
              <a:path h="8177118" w="8177118">
                <a:moveTo>
                  <a:pt x="0" y="0"/>
                </a:moveTo>
                <a:lnTo>
                  <a:pt x="8177118" y="0"/>
                </a:lnTo>
                <a:lnTo>
                  <a:pt x="8177118" y="8177118"/>
                </a:lnTo>
                <a:lnTo>
                  <a:pt x="0" y="8177118"/>
                </a:lnTo>
                <a:lnTo>
                  <a:pt x="0" y="0"/>
                </a:lnTo>
                <a:close/>
              </a:path>
            </a:pathLst>
          </a:custGeom>
          <a:blipFill>
            <a:blip r:embed="rId7"/>
            <a:stretch>
              <a:fillRect l="-44265" t="0" r="-44265" b="0"/>
            </a:stretch>
          </a:blipFill>
        </p:spPr>
      </p:sp>
      <p:sp>
        <p:nvSpPr>
          <p:cNvPr name="Freeform 14" id="14"/>
          <p:cNvSpPr/>
          <p:nvPr/>
        </p:nvSpPr>
        <p:spPr>
          <a:xfrm flipH="false" flipV="false" rot="0">
            <a:off x="4544555" y="56882"/>
            <a:ext cx="8177118" cy="5553771"/>
          </a:xfrm>
          <a:custGeom>
            <a:avLst/>
            <a:gdLst/>
            <a:ahLst/>
            <a:cxnLst/>
            <a:rect r="r" b="b" t="t" l="l"/>
            <a:pathLst>
              <a:path h="5553771" w="8177118">
                <a:moveTo>
                  <a:pt x="0" y="0"/>
                </a:moveTo>
                <a:lnTo>
                  <a:pt x="8177118" y="0"/>
                </a:lnTo>
                <a:lnTo>
                  <a:pt x="8177118" y="5553772"/>
                </a:lnTo>
                <a:lnTo>
                  <a:pt x="0" y="5553772"/>
                </a:lnTo>
                <a:lnTo>
                  <a:pt x="0" y="0"/>
                </a:lnTo>
                <a:close/>
              </a:path>
            </a:pathLst>
          </a:custGeom>
          <a:blipFill>
            <a:blip r:embed="rId8"/>
            <a:stretch>
              <a:fillRect l="0" t="0" r="-2129" b="-560"/>
            </a:stretch>
          </a:blipFill>
        </p:spPr>
      </p:sp>
      <p:sp>
        <p:nvSpPr>
          <p:cNvPr name="Freeform 15" id="15"/>
          <p:cNvSpPr/>
          <p:nvPr/>
        </p:nvSpPr>
        <p:spPr>
          <a:xfrm flipH="false" flipV="false" rot="0">
            <a:off x="4544555" y="5671867"/>
            <a:ext cx="8177118" cy="4943513"/>
          </a:xfrm>
          <a:custGeom>
            <a:avLst/>
            <a:gdLst/>
            <a:ahLst/>
            <a:cxnLst/>
            <a:rect r="r" b="b" t="t" l="l"/>
            <a:pathLst>
              <a:path h="4943513" w="8177118">
                <a:moveTo>
                  <a:pt x="0" y="0"/>
                </a:moveTo>
                <a:lnTo>
                  <a:pt x="8177118" y="0"/>
                </a:lnTo>
                <a:lnTo>
                  <a:pt x="8177118" y="4943513"/>
                </a:lnTo>
                <a:lnTo>
                  <a:pt x="0" y="4943513"/>
                </a:lnTo>
                <a:lnTo>
                  <a:pt x="0" y="0"/>
                </a:lnTo>
                <a:close/>
              </a:path>
            </a:pathLst>
          </a:custGeom>
          <a:blipFill>
            <a:blip r:embed="rId9"/>
            <a:stretch>
              <a:fillRect l="-1210" t="-3796" r="0" b="0"/>
            </a:stretch>
          </a:blipFill>
        </p:spPr>
      </p:sp>
      <p:sp>
        <p:nvSpPr>
          <p:cNvPr name="Freeform 16" id="16"/>
          <p:cNvSpPr/>
          <p:nvPr/>
        </p:nvSpPr>
        <p:spPr>
          <a:xfrm flipH="false" flipV="false" rot="-5400000">
            <a:off x="4793318" y="5349832"/>
            <a:ext cx="574945" cy="1001339"/>
          </a:xfrm>
          <a:custGeom>
            <a:avLst/>
            <a:gdLst/>
            <a:ahLst/>
            <a:cxnLst/>
            <a:rect r="r" b="b" t="t" l="l"/>
            <a:pathLst>
              <a:path h="1001339" w="574945">
                <a:moveTo>
                  <a:pt x="0" y="0"/>
                </a:moveTo>
                <a:lnTo>
                  <a:pt x="574945" y="0"/>
                </a:lnTo>
                <a:lnTo>
                  <a:pt x="574945" y="1001338"/>
                </a:lnTo>
                <a:lnTo>
                  <a:pt x="0" y="1001338"/>
                </a:lnTo>
                <a:lnTo>
                  <a:pt x="0" y="0"/>
                </a:lnTo>
                <a:close/>
              </a:path>
            </a:pathLst>
          </a:custGeom>
          <a:blipFill>
            <a:blip r:embed="rId7"/>
            <a:stretch>
              <a:fillRect l="-529442" t="-104324" r="-384971" b="-104618"/>
            </a:stretch>
          </a:blipFill>
        </p:spPr>
      </p:sp>
      <p:sp>
        <p:nvSpPr>
          <p:cNvPr name="Freeform 17" id="17"/>
          <p:cNvSpPr/>
          <p:nvPr/>
        </p:nvSpPr>
        <p:spPr>
          <a:xfrm flipH="false" flipV="false" rot="-5400000">
            <a:off x="11788607" y="5393836"/>
            <a:ext cx="574945" cy="913329"/>
          </a:xfrm>
          <a:custGeom>
            <a:avLst/>
            <a:gdLst/>
            <a:ahLst/>
            <a:cxnLst/>
            <a:rect r="r" b="b" t="t" l="l"/>
            <a:pathLst>
              <a:path h="913329" w="574945">
                <a:moveTo>
                  <a:pt x="0" y="0"/>
                </a:moveTo>
                <a:lnTo>
                  <a:pt x="574945" y="0"/>
                </a:lnTo>
                <a:lnTo>
                  <a:pt x="574945" y="913329"/>
                </a:lnTo>
                <a:lnTo>
                  <a:pt x="0" y="913329"/>
                </a:lnTo>
                <a:lnTo>
                  <a:pt x="0" y="0"/>
                </a:lnTo>
                <a:close/>
              </a:path>
            </a:pathLst>
          </a:custGeom>
          <a:blipFill>
            <a:blip r:embed="rId7"/>
            <a:stretch>
              <a:fillRect l="-122168" t="-50984" r="-230016" b="0"/>
            </a:stretch>
          </a:blipFill>
        </p:spPr>
      </p:sp>
      <p:sp>
        <p:nvSpPr>
          <p:cNvPr name="Freeform 18" id="18"/>
          <p:cNvSpPr/>
          <p:nvPr/>
        </p:nvSpPr>
        <p:spPr>
          <a:xfrm flipH="false" flipV="false" rot="0">
            <a:off x="5511336" y="5617764"/>
            <a:ext cx="6186407" cy="73153"/>
          </a:xfrm>
          <a:custGeom>
            <a:avLst/>
            <a:gdLst/>
            <a:ahLst/>
            <a:cxnLst/>
            <a:rect r="r" b="b" t="t" l="l"/>
            <a:pathLst>
              <a:path h="73153" w="6186407">
                <a:moveTo>
                  <a:pt x="0" y="0"/>
                </a:moveTo>
                <a:lnTo>
                  <a:pt x="6186407" y="0"/>
                </a:lnTo>
                <a:lnTo>
                  <a:pt x="6186407" y="73153"/>
                </a:lnTo>
                <a:lnTo>
                  <a:pt x="0" y="73153"/>
                </a:lnTo>
                <a:lnTo>
                  <a:pt x="0" y="0"/>
                </a:lnTo>
                <a:close/>
              </a:path>
            </a:pathLst>
          </a:custGeom>
          <a:blipFill>
            <a:blip r:embed="rId10"/>
            <a:stretch>
              <a:fillRect l="0" t="-171692" r="0" b="-1028541"/>
            </a:stretch>
          </a:blipFill>
        </p:spPr>
      </p:sp>
      <p:sp>
        <p:nvSpPr>
          <p:cNvPr name="Freeform 19" id="19"/>
          <p:cNvSpPr/>
          <p:nvPr/>
        </p:nvSpPr>
        <p:spPr>
          <a:xfrm flipH="false" flipV="false" rot="0">
            <a:off x="8888824" y="3479818"/>
            <a:ext cx="969271" cy="319952"/>
          </a:xfrm>
          <a:custGeom>
            <a:avLst/>
            <a:gdLst/>
            <a:ahLst/>
            <a:cxnLst/>
            <a:rect r="r" b="b" t="t" l="l"/>
            <a:pathLst>
              <a:path h="319952" w="969271">
                <a:moveTo>
                  <a:pt x="0" y="0"/>
                </a:moveTo>
                <a:lnTo>
                  <a:pt x="969271" y="0"/>
                </a:lnTo>
                <a:lnTo>
                  <a:pt x="969271" y="319952"/>
                </a:lnTo>
                <a:lnTo>
                  <a:pt x="0" y="319952"/>
                </a:lnTo>
                <a:lnTo>
                  <a:pt x="0" y="0"/>
                </a:lnTo>
                <a:close/>
              </a:path>
            </a:pathLst>
          </a:custGeom>
          <a:blipFill>
            <a:blip r:embed="rId11"/>
            <a:stretch>
              <a:fillRect l="0" t="-45130" r="0" b="0"/>
            </a:stretch>
          </a:blipFill>
        </p:spPr>
      </p:sp>
      <p:sp>
        <p:nvSpPr>
          <p:cNvPr name="Freeform 20" id="20"/>
          <p:cNvSpPr/>
          <p:nvPr/>
        </p:nvSpPr>
        <p:spPr>
          <a:xfrm flipH="false" flipV="false" rot="0">
            <a:off x="10905565" y="3490354"/>
            <a:ext cx="1341815" cy="271511"/>
          </a:xfrm>
          <a:custGeom>
            <a:avLst/>
            <a:gdLst/>
            <a:ahLst/>
            <a:cxnLst/>
            <a:rect r="r" b="b" t="t" l="l"/>
            <a:pathLst>
              <a:path h="271511" w="1341815">
                <a:moveTo>
                  <a:pt x="0" y="0"/>
                </a:moveTo>
                <a:lnTo>
                  <a:pt x="1341814" y="0"/>
                </a:lnTo>
                <a:lnTo>
                  <a:pt x="1341814" y="271512"/>
                </a:lnTo>
                <a:lnTo>
                  <a:pt x="0" y="271512"/>
                </a:lnTo>
                <a:lnTo>
                  <a:pt x="0" y="0"/>
                </a:lnTo>
                <a:close/>
              </a:path>
            </a:pathLst>
          </a:custGeom>
          <a:blipFill>
            <a:blip r:embed="rId11"/>
            <a:stretch>
              <a:fillRect l="0" t="0" r="0" b="-136757"/>
            </a:stretch>
          </a:blipFill>
        </p:spPr>
      </p:sp>
      <p:sp>
        <p:nvSpPr>
          <p:cNvPr name="Freeform 21" id="21"/>
          <p:cNvSpPr/>
          <p:nvPr/>
        </p:nvSpPr>
        <p:spPr>
          <a:xfrm flipH="false" flipV="false" rot="0">
            <a:off x="4702308" y="7952620"/>
            <a:ext cx="7782811" cy="1055674"/>
          </a:xfrm>
          <a:custGeom>
            <a:avLst/>
            <a:gdLst/>
            <a:ahLst/>
            <a:cxnLst/>
            <a:rect r="r" b="b" t="t" l="l"/>
            <a:pathLst>
              <a:path h="1055674" w="7782811">
                <a:moveTo>
                  <a:pt x="0" y="0"/>
                </a:moveTo>
                <a:lnTo>
                  <a:pt x="7782811" y="0"/>
                </a:lnTo>
                <a:lnTo>
                  <a:pt x="7782811" y="1055674"/>
                </a:lnTo>
                <a:lnTo>
                  <a:pt x="0" y="1055674"/>
                </a:lnTo>
                <a:lnTo>
                  <a:pt x="0" y="0"/>
                </a:lnTo>
                <a:close/>
              </a:path>
            </a:pathLst>
          </a:custGeom>
          <a:blipFill>
            <a:blip r:embed="rId12"/>
            <a:stretch>
              <a:fillRect l="-34467" t="-59704" r="0" b="-10063"/>
            </a:stretch>
          </a:blipFill>
        </p:spPr>
      </p:sp>
      <p:sp>
        <p:nvSpPr>
          <p:cNvPr name="Freeform 22" id="22"/>
          <p:cNvSpPr/>
          <p:nvPr/>
        </p:nvSpPr>
        <p:spPr>
          <a:xfrm flipH="false" flipV="false" rot="0">
            <a:off x="9858095" y="7548292"/>
            <a:ext cx="1410002" cy="156678"/>
          </a:xfrm>
          <a:custGeom>
            <a:avLst/>
            <a:gdLst/>
            <a:ahLst/>
            <a:cxnLst/>
            <a:rect r="r" b="b" t="t" l="l"/>
            <a:pathLst>
              <a:path h="156678" w="1410002">
                <a:moveTo>
                  <a:pt x="0" y="0"/>
                </a:moveTo>
                <a:lnTo>
                  <a:pt x="1410002" y="0"/>
                </a:lnTo>
                <a:lnTo>
                  <a:pt x="1410002" y="156678"/>
                </a:lnTo>
                <a:lnTo>
                  <a:pt x="0" y="156678"/>
                </a:lnTo>
                <a:lnTo>
                  <a:pt x="0" y="0"/>
                </a:lnTo>
                <a:close/>
              </a:path>
            </a:pathLst>
          </a:custGeom>
          <a:blipFill>
            <a:blip r:embed="rId13"/>
            <a:stretch>
              <a:fillRect l="-27944" t="-17522" r="-34324" b="-107001"/>
            </a:stretch>
          </a:blipFill>
        </p:spPr>
      </p:sp>
      <p:sp>
        <p:nvSpPr>
          <p:cNvPr name="TextBox 23" id="23"/>
          <p:cNvSpPr txBox="true"/>
          <p:nvPr/>
        </p:nvSpPr>
        <p:spPr>
          <a:xfrm rot="0">
            <a:off x="8223315" y="3555974"/>
            <a:ext cx="2750827" cy="148590"/>
          </a:xfrm>
          <a:prstGeom prst="rect">
            <a:avLst/>
          </a:prstGeom>
        </p:spPr>
        <p:txBody>
          <a:bodyPr anchor="t" rtlCol="false" tIns="0" lIns="0" bIns="0" rIns="0">
            <a:spAutoFit/>
          </a:bodyPr>
          <a:lstStyle/>
          <a:p>
            <a:pPr algn="ctr">
              <a:lnSpc>
                <a:spcPts val="1260"/>
              </a:lnSpc>
            </a:pPr>
            <a:r>
              <a:rPr lang="en-US" sz="900" b="true">
                <a:solidFill>
                  <a:srgbClr val="000000"/>
                </a:solidFill>
                <a:latin typeface="Open Sans Bold"/>
                <a:ea typeface="Open Sans Bold"/>
                <a:cs typeface="Open Sans Bold"/>
                <a:sym typeface="Open Sans Bold"/>
              </a:rPr>
              <a:t>ambil data  2021-2023</a:t>
            </a:r>
          </a:p>
        </p:txBody>
      </p:sp>
      <p:sp>
        <p:nvSpPr>
          <p:cNvPr name="TextBox 24" id="24"/>
          <p:cNvSpPr txBox="true"/>
          <p:nvPr/>
        </p:nvSpPr>
        <p:spPr>
          <a:xfrm rot="0">
            <a:off x="6137997" y="3491204"/>
            <a:ext cx="2750827" cy="148590"/>
          </a:xfrm>
          <a:prstGeom prst="rect">
            <a:avLst/>
          </a:prstGeom>
        </p:spPr>
        <p:txBody>
          <a:bodyPr anchor="t" rtlCol="false" tIns="0" lIns="0" bIns="0" rIns="0">
            <a:spAutoFit/>
          </a:bodyPr>
          <a:lstStyle/>
          <a:p>
            <a:pPr algn="ctr">
              <a:lnSpc>
                <a:spcPts val="1260"/>
              </a:lnSpc>
            </a:pPr>
            <a:r>
              <a:rPr lang="en-US" sz="900" b="true">
                <a:solidFill>
                  <a:srgbClr val="000000"/>
                </a:solidFill>
                <a:latin typeface="Open Sans Bold"/>
                <a:ea typeface="Open Sans Bold"/>
                <a:cs typeface="Open Sans Bold"/>
                <a:sym typeface="Open Sans Bold"/>
              </a:rPr>
              <a:t>proses data  2021-2023</a:t>
            </a:r>
          </a:p>
        </p:txBody>
      </p:sp>
      <p:sp>
        <p:nvSpPr>
          <p:cNvPr name="Freeform 25" id="25"/>
          <p:cNvSpPr/>
          <p:nvPr/>
        </p:nvSpPr>
        <p:spPr>
          <a:xfrm flipH="false" flipV="false" rot="0">
            <a:off x="6881500" y="3490354"/>
            <a:ext cx="1341815" cy="271511"/>
          </a:xfrm>
          <a:custGeom>
            <a:avLst/>
            <a:gdLst/>
            <a:ahLst/>
            <a:cxnLst/>
            <a:rect r="r" b="b" t="t" l="l"/>
            <a:pathLst>
              <a:path h="271511" w="1341815">
                <a:moveTo>
                  <a:pt x="0" y="0"/>
                </a:moveTo>
                <a:lnTo>
                  <a:pt x="1341815" y="0"/>
                </a:lnTo>
                <a:lnTo>
                  <a:pt x="1341815" y="271512"/>
                </a:lnTo>
                <a:lnTo>
                  <a:pt x="0" y="271512"/>
                </a:lnTo>
                <a:lnTo>
                  <a:pt x="0" y="0"/>
                </a:lnTo>
                <a:close/>
              </a:path>
            </a:pathLst>
          </a:custGeom>
          <a:blipFill>
            <a:blip r:embed="rId11"/>
            <a:stretch>
              <a:fillRect l="0" t="0" r="0" b="-136757"/>
            </a:stretch>
          </a:blipFill>
        </p:spPr>
      </p:sp>
      <p:sp>
        <p:nvSpPr>
          <p:cNvPr name="Freeform 26" id="26"/>
          <p:cNvSpPr/>
          <p:nvPr/>
        </p:nvSpPr>
        <p:spPr>
          <a:xfrm flipH="false" flipV="false" rot="0">
            <a:off x="8727338" y="4348632"/>
            <a:ext cx="1688499" cy="447452"/>
          </a:xfrm>
          <a:custGeom>
            <a:avLst/>
            <a:gdLst/>
            <a:ahLst/>
            <a:cxnLst/>
            <a:rect r="r" b="b" t="t" l="l"/>
            <a:pathLst>
              <a:path h="447452" w="1688499">
                <a:moveTo>
                  <a:pt x="0" y="0"/>
                </a:moveTo>
                <a:lnTo>
                  <a:pt x="1688500" y="0"/>
                </a:lnTo>
                <a:lnTo>
                  <a:pt x="1688500" y="447452"/>
                </a:lnTo>
                <a:lnTo>
                  <a:pt x="0" y="447452"/>
                </a:lnTo>
                <a:lnTo>
                  <a:pt x="0" y="0"/>
                </a:lnTo>
                <a:close/>
              </a:path>
            </a:pathLst>
          </a:custGeom>
          <a:blipFill>
            <a:blip r:embed="rId14"/>
            <a:stretch>
              <a:fillRect l="0" t="0" r="0" b="0"/>
            </a:stretch>
          </a:blipFill>
        </p:spPr>
      </p:sp>
      <p:sp>
        <p:nvSpPr>
          <p:cNvPr name="Freeform 27" id="27"/>
          <p:cNvSpPr/>
          <p:nvPr/>
        </p:nvSpPr>
        <p:spPr>
          <a:xfrm flipH="false" flipV="false" rot="0">
            <a:off x="8764004" y="4918795"/>
            <a:ext cx="1634219" cy="449410"/>
          </a:xfrm>
          <a:custGeom>
            <a:avLst/>
            <a:gdLst/>
            <a:ahLst/>
            <a:cxnLst/>
            <a:rect r="r" b="b" t="t" l="l"/>
            <a:pathLst>
              <a:path h="449410" w="1634219">
                <a:moveTo>
                  <a:pt x="0" y="0"/>
                </a:moveTo>
                <a:lnTo>
                  <a:pt x="1634218" y="0"/>
                </a:lnTo>
                <a:lnTo>
                  <a:pt x="1634218" y="449410"/>
                </a:lnTo>
                <a:lnTo>
                  <a:pt x="0" y="449410"/>
                </a:lnTo>
                <a:lnTo>
                  <a:pt x="0" y="0"/>
                </a:lnTo>
                <a:close/>
              </a:path>
            </a:pathLst>
          </a:custGeom>
          <a:blipFill>
            <a:blip r:embed="rId15"/>
            <a:stretch>
              <a:fillRect l="0" t="0" r="0" b="0"/>
            </a:stretch>
          </a:blipFill>
        </p:spPr>
      </p:sp>
      <p:sp>
        <p:nvSpPr>
          <p:cNvPr name="Freeform 28" id="28"/>
          <p:cNvSpPr/>
          <p:nvPr/>
        </p:nvSpPr>
        <p:spPr>
          <a:xfrm flipH="false" flipV="false" rot="0">
            <a:off x="10740877" y="4348632"/>
            <a:ext cx="1714719" cy="447452"/>
          </a:xfrm>
          <a:custGeom>
            <a:avLst/>
            <a:gdLst/>
            <a:ahLst/>
            <a:cxnLst/>
            <a:rect r="r" b="b" t="t" l="l"/>
            <a:pathLst>
              <a:path h="447452" w="1714719">
                <a:moveTo>
                  <a:pt x="0" y="0"/>
                </a:moveTo>
                <a:lnTo>
                  <a:pt x="1714719" y="0"/>
                </a:lnTo>
                <a:lnTo>
                  <a:pt x="1714719" y="447452"/>
                </a:lnTo>
                <a:lnTo>
                  <a:pt x="0" y="447452"/>
                </a:lnTo>
                <a:lnTo>
                  <a:pt x="0" y="0"/>
                </a:lnTo>
                <a:close/>
              </a:path>
            </a:pathLst>
          </a:custGeom>
          <a:blipFill>
            <a:blip r:embed="rId16"/>
            <a:stretch>
              <a:fillRect l="-6160" t="0" r="-6160" b="0"/>
            </a:stretch>
          </a:blipFill>
        </p:spPr>
      </p:sp>
      <p:sp>
        <p:nvSpPr>
          <p:cNvPr name="Freeform 29" id="29"/>
          <p:cNvSpPr/>
          <p:nvPr/>
        </p:nvSpPr>
        <p:spPr>
          <a:xfrm flipH="false" flipV="false" rot="0">
            <a:off x="7324208" y="8631056"/>
            <a:ext cx="2539010" cy="473943"/>
          </a:xfrm>
          <a:custGeom>
            <a:avLst/>
            <a:gdLst/>
            <a:ahLst/>
            <a:cxnLst/>
            <a:rect r="r" b="b" t="t" l="l"/>
            <a:pathLst>
              <a:path h="473943" w="2539010">
                <a:moveTo>
                  <a:pt x="0" y="0"/>
                </a:moveTo>
                <a:lnTo>
                  <a:pt x="2539011" y="0"/>
                </a:lnTo>
                <a:lnTo>
                  <a:pt x="2539011" y="473943"/>
                </a:lnTo>
                <a:lnTo>
                  <a:pt x="0" y="47394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30" id="30"/>
          <p:cNvSpPr/>
          <p:nvPr/>
        </p:nvSpPr>
        <p:spPr>
          <a:xfrm flipH="false" flipV="false" rot="0">
            <a:off x="7580983" y="8669156"/>
            <a:ext cx="308082" cy="313171"/>
          </a:xfrm>
          <a:custGeom>
            <a:avLst/>
            <a:gdLst/>
            <a:ahLst/>
            <a:cxnLst/>
            <a:rect r="r" b="b" t="t" l="l"/>
            <a:pathLst>
              <a:path h="313171" w="308082">
                <a:moveTo>
                  <a:pt x="0" y="0"/>
                </a:moveTo>
                <a:lnTo>
                  <a:pt x="308082" y="0"/>
                </a:lnTo>
                <a:lnTo>
                  <a:pt x="308082" y="313172"/>
                </a:lnTo>
                <a:lnTo>
                  <a:pt x="0" y="313172"/>
                </a:lnTo>
                <a:lnTo>
                  <a:pt x="0" y="0"/>
                </a:lnTo>
                <a:close/>
              </a:path>
            </a:pathLst>
          </a:custGeom>
          <a:blipFill>
            <a:blip r:embed="rId19"/>
            <a:stretch>
              <a:fillRect l="0" t="0" r="0" b="0"/>
            </a:stretch>
          </a:blipFill>
        </p:spPr>
      </p:sp>
      <p:sp>
        <p:nvSpPr>
          <p:cNvPr name="TextBox 31" id="31"/>
          <p:cNvSpPr txBox="true"/>
          <p:nvPr/>
        </p:nvSpPr>
        <p:spPr>
          <a:xfrm rot="0">
            <a:off x="10201058" y="3555974"/>
            <a:ext cx="2750827" cy="148590"/>
          </a:xfrm>
          <a:prstGeom prst="rect">
            <a:avLst/>
          </a:prstGeom>
        </p:spPr>
        <p:txBody>
          <a:bodyPr anchor="t" rtlCol="false" tIns="0" lIns="0" bIns="0" rIns="0">
            <a:spAutoFit/>
          </a:bodyPr>
          <a:lstStyle/>
          <a:p>
            <a:pPr algn="ctr">
              <a:lnSpc>
                <a:spcPts val="1260"/>
              </a:lnSpc>
            </a:pPr>
            <a:r>
              <a:rPr lang="en-US" sz="900" b="true">
                <a:solidFill>
                  <a:srgbClr val="000000"/>
                </a:solidFill>
                <a:latin typeface="Open Sans Bold"/>
                <a:ea typeface="Open Sans Bold"/>
                <a:cs typeface="Open Sans Bold"/>
                <a:sym typeface="Open Sans Bold"/>
              </a:rPr>
              <a:t>proses data  2021-2023</a:t>
            </a:r>
          </a:p>
        </p:txBody>
      </p:sp>
      <p:sp>
        <p:nvSpPr>
          <p:cNvPr name="TextBox 32" id="32"/>
          <p:cNvSpPr txBox="true"/>
          <p:nvPr/>
        </p:nvSpPr>
        <p:spPr>
          <a:xfrm rot="0">
            <a:off x="7855190" y="775592"/>
            <a:ext cx="1555849" cy="233680"/>
          </a:xfrm>
          <a:prstGeom prst="rect">
            <a:avLst/>
          </a:prstGeom>
        </p:spPr>
        <p:txBody>
          <a:bodyPr anchor="t" rtlCol="false" tIns="0" lIns="0" bIns="0" rIns="0">
            <a:spAutoFit/>
          </a:bodyPr>
          <a:lstStyle/>
          <a:p>
            <a:pPr algn="ctr">
              <a:lnSpc>
                <a:spcPts val="1819"/>
              </a:lnSpc>
            </a:pPr>
            <a:r>
              <a:rPr lang="en-US" sz="1299" b="true">
                <a:solidFill>
                  <a:srgbClr val="000000"/>
                </a:solidFill>
                <a:latin typeface="Open Sans Bold"/>
                <a:ea typeface="Open Sans Bold"/>
                <a:cs typeface="Open Sans Bold"/>
                <a:sym typeface="Open Sans Bold"/>
              </a:rPr>
              <a:t>DATA COLLECTING </a:t>
            </a:r>
          </a:p>
        </p:txBody>
      </p:sp>
      <p:sp>
        <p:nvSpPr>
          <p:cNvPr name="TextBox 33" id="33"/>
          <p:cNvSpPr txBox="true"/>
          <p:nvPr/>
        </p:nvSpPr>
        <p:spPr>
          <a:xfrm rot="0">
            <a:off x="9980955" y="7534556"/>
            <a:ext cx="1164282" cy="165100"/>
          </a:xfrm>
          <a:prstGeom prst="rect">
            <a:avLst/>
          </a:prstGeom>
        </p:spPr>
        <p:txBody>
          <a:bodyPr anchor="t" rtlCol="false" tIns="0" lIns="0" bIns="0" rIns="0">
            <a:spAutoFit/>
          </a:bodyPr>
          <a:lstStyle/>
          <a:p>
            <a:pPr algn="ctr">
              <a:lnSpc>
                <a:spcPts val="1399"/>
              </a:lnSpc>
            </a:pPr>
            <a:r>
              <a:rPr lang="en-US" sz="999">
                <a:solidFill>
                  <a:srgbClr val="000000"/>
                </a:solidFill>
                <a:latin typeface="Open Sans"/>
                <a:ea typeface="Open Sans"/>
                <a:cs typeface="Open Sans"/>
                <a:sym typeface="Open Sans"/>
              </a:rPr>
              <a:t>gabungan sudah fix</a:t>
            </a:r>
          </a:p>
        </p:txBody>
      </p:sp>
      <p:sp>
        <p:nvSpPr>
          <p:cNvPr name="TextBox 34" id="34"/>
          <p:cNvSpPr txBox="true"/>
          <p:nvPr/>
        </p:nvSpPr>
        <p:spPr>
          <a:xfrm rot="0">
            <a:off x="6176994" y="3542290"/>
            <a:ext cx="2750827" cy="148590"/>
          </a:xfrm>
          <a:prstGeom prst="rect">
            <a:avLst/>
          </a:prstGeom>
        </p:spPr>
        <p:txBody>
          <a:bodyPr anchor="t" rtlCol="false" tIns="0" lIns="0" bIns="0" rIns="0">
            <a:spAutoFit/>
          </a:bodyPr>
          <a:lstStyle/>
          <a:p>
            <a:pPr algn="ctr">
              <a:lnSpc>
                <a:spcPts val="1260"/>
              </a:lnSpc>
            </a:pPr>
            <a:r>
              <a:rPr lang="en-US" sz="900" b="true">
                <a:solidFill>
                  <a:srgbClr val="000000"/>
                </a:solidFill>
                <a:latin typeface="Open Sans Bold"/>
                <a:ea typeface="Open Sans Bold"/>
                <a:cs typeface="Open Sans Bold"/>
                <a:sym typeface="Open Sans Bold"/>
              </a:rPr>
              <a:t>proses data  2021-2023</a:t>
            </a:r>
          </a:p>
        </p:txBody>
      </p:sp>
      <p:sp>
        <p:nvSpPr>
          <p:cNvPr name="TextBox 35" id="35"/>
          <p:cNvSpPr txBox="true"/>
          <p:nvPr/>
        </p:nvSpPr>
        <p:spPr>
          <a:xfrm rot="0">
            <a:off x="8012394" y="8725153"/>
            <a:ext cx="995759" cy="257175"/>
          </a:xfrm>
          <a:prstGeom prst="rect">
            <a:avLst/>
          </a:prstGeom>
        </p:spPr>
        <p:txBody>
          <a:bodyPr anchor="t" rtlCol="false" tIns="0" lIns="0" bIns="0" rIns="0">
            <a:spAutoFit/>
          </a:bodyPr>
          <a:lstStyle/>
          <a:p>
            <a:pPr algn="ctr">
              <a:lnSpc>
                <a:spcPts val="2100"/>
              </a:lnSpc>
            </a:pPr>
            <a:r>
              <a:rPr lang="en-US" sz="1500" b="true">
                <a:solidFill>
                  <a:srgbClr val="000000"/>
                </a:solidFill>
                <a:latin typeface="Open Sans Bold"/>
                <a:ea typeface="Open Sans Bold"/>
                <a:cs typeface="Open Sans Bold"/>
                <a:sym typeface="Open Sans Bold"/>
              </a:rPr>
              <a:t>Visualisasi</a:t>
            </a:r>
          </a:p>
        </p:txBody>
      </p:sp>
      <p:sp>
        <p:nvSpPr>
          <p:cNvPr name="AutoShape 36" id="36"/>
          <p:cNvSpPr/>
          <p:nvPr/>
        </p:nvSpPr>
        <p:spPr>
          <a:xfrm flipH="true">
            <a:off x="9165502" y="7834337"/>
            <a:ext cx="956848" cy="678679"/>
          </a:xfrm>
          <a:prstGeom prst="line">
            <a:avLst/>
          </a:prstGeom>
          <a:ln cap="flat" w="38100">
            <a:solidFill>
              <a:srgbClr val="000000"/>
            </a:solidFill>
            <a:prstDash val="solid"/>
            <a:headEnd type="none" len="sm" w="sm"/>
            <a:tailEnd type="arrow" len="sm" w="med"/>
          </a:ln>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grpSp>
        <p:nvGrpSpPr>
          <p:cNvPr name="Group 6" id="6"/>
          <p:cNvGrpSpPr/>
          <p:nvPr/>
        </p:nvGrpSpPr>
        <p:grpSpPr>
          <a:xfrm rot="0">
            <a:off x="497164" y="431877"/>
            <a:ext cx="17790836" cy="9423247"/>
            <a:chOff x="0" y="0"/>
            <a:chExt cx="4685652" cy="2481843"/>
          </a:xfrm>
        </p:grpSpPr>
        <p:sp>
          <p:nvSpPr>
            <p:cNvPr name="Freeform 7" id="7"/>
            <p:cNvSpPr/>
            <p:nvPr/>
          </p:nvSpPr>
          <p:spPr>
            <a:xfrm flipH="false" flipV="false" rot="0">
              <a:off x="0" y="0"/>
              <a:ext cx="4685652" cy="2481843"/>
            </a:xfrm>
            <a:custGeom>
              <a:avLst/>
              <a:gdLst/>
              <a:ahLst/>
              <a:cxnLst/>
              <a:rect r="r" b="b" t="t" l="l"/>
              <a:pathLst>
                <a:path h="2481843" w="4685652">
                  <a:moveTo>
                    <a:pt x="0" y="0"/>
                  </a:moveTo>
                  <a:lnTo>
                    <a:pt x="4685652" y="0"/>
                  </a:lnTo>
                  <a:lnTo>
                    <a:pt x="4685652" y="2481843"/>
                  </a:lnTo>
                  <a:lnTo>
                    <a:pt x="0" y="2481843"/>
                  </a:lnTo>
                  <a:close/>
                </a:path>
              </a:pathLst>
            </a:custGeom>
            <a:solidFill>
              <a:srgbClr val="04458F"/>
            </a:solidFill>
          </p:spPr>
        </p:sp>
        <p:sp>
          <p:nvSpPr>
            <p:cNvPr name="TextBox 8" id="8"/>
            <p:cNvSpPr txBox="true"/>
            <p:nvPr/>
          </p:nvSpPr>
          <p:spPr>
            <a:xfrm>
              <a:off x="0" y="19050"/>
              <a:ext cx="4685652" cy="2462793"/>
            </a:xfrm>
            <a:prstGeom prst="rect">
              <a:avLst/>
            </a:prstGeom>
          </p:spPr>
          <p:txBody>
            <a:bodyPr anchor="ctr" rtlCol="false" tIns="50800" lIns="50800" bIns="50800" rIns="50800"/>
            <a:lstStyle/>
            <a:p>
              <a:pPr algn="ctr">
                <a:lnSpc>
                  <a:spcPts val="2251"/>
                </a:lnSpc>
              </a:pPr>
            </a:p>
          </p:txBody>
        </p:sp>
      </p:grpSp>
      <p:sp>
        <p:nvSpPr>
          <p:cNvPr name="TextBox 9" id="9"/>
          <p:cNvSpPr txBox="true"/>
          <p:nvPr/>
        </p:nvSpPr>
        <p:spPr>
          <a:xfrm rot="0">
            <a:off x="1568614" y="4451762"/>
            <a:ext cx="15150773" cy="1345375"/>
          </a:xfrm>
          <a:prstGeom prst="rect">
            <a:avLst/>
          </a:prstGeom>
        </p:spPr>
        <p:txBody>
          <a:bodyPr anchor="t" rtlCol="false" tIns="0" lIns="0" bIns="0" rIns="0">
            <a:spAutoFit/>
          </a:bodyPr>
          <a:lstStyle/>
          <a:p>
            <a:pPr algn="ctr" marL="0" indent="0" lvl="0">
              <a:lnSpc>
                <a:spcPts val="10787"/>
              </a:lnSpc>
            </a:pPr>
            <a:r>
              <a:rPr lang="en-US" b="true" sz="8629" i="true">
                <a:solidFill>
                  <a:srgbClr val="FFFFFF"/>
                </a:solidFill>
                <a:latin typeface="Open Sauce Bold Italics"/>
                <a:ea typeface="Open Sauce Bold Italics"/>
                <a:cs typeface="Open Sauce Bold Italics"/>
                <a:sym typeface="Open Sauce Bold Italics"/>
              </a:rPr>
              <a:t>IMPLEMENTASI CODE</a:t>
            </a:r>
          </a:p>
        </p:txBody>
      </p:sp>
      <p:grpSp>
        <p:nvGrpSpPr>
          <p:cNvPr name="Group 10" id="10"/>
          <p:cNvGrpSpPr/>
          <p:nvPr/>
        </p:nvGrpSpPr>
        <p:grpSpPr>
          <a:xfrm rot="0">
            <a:off x="6622374" y="9455750"/>
            <a:ext cx="11665626" cy="2028721"/>
            <a:chOff x="0" y="0"/>
            <a:chExt cx="3072428" cy="534313"/>
          </a:xfrm>
        </p:grpSpPr>
        <p:sp>
          <p:nvSpPr>
            <p:cNvPr name="Freeform 11" id="11"/>
            <p:cNvSpPr/>
            <p:nvPr/>
          </p:nvSpPr>
          <p:spPr>
            <a:xfrm flipH="false" flipV="false" rot="0">
              <a:off x="0" y="0"/>
              <a:ext cx="3072428" cy="534313"/>
            </a:xfrm>
            <a:custGeom>
              <a:avLst/>
              <a:gdLst/>
              <a:ahLst/>
              <a:cxnLst/>
              <a:rect r="r" b="b" t="t" l="l"/>
              <a:pathLst>
                <a:path h="534313" w="3072428">
                  <a:moveTo>
                    <a:pt x="0" y="0"/>
                  </a:moveTo>
                  <a:lnTo>
                    <a:pt x="3072428" y="0"/>
                  </a:lnTo>
                  <a:lnTo>
                    <a:pt x="3072428" y="534313"/>
                  </a:lnTo>
                  <a:lnTo>
                    <a:pt x="0" y="534313"/>
                  </a:lnTo>
                  <a:close/>
                </a:path>
              </a:pathLst>
            </a:custGeom>
            <a:solidFill>
              <a:srgbClr val="FFBD59"/>
            </a:solidFill>
          </p:spPr>
        </p:sp>
        <p:sp>
          <p:nvSpPr>
            <p:cNvPr name="TextBox 12" id="12"/>
            <p:cNvSpPr txBox="true"/>
            <p:nvPr/>
          </p:nvSpPr>
          <p:spPr>
            <a:xfrm>
              <a:off x="0" y="19050"/>
              <a:ext cx="3072428" cy="515263"/>
            </a:xfrm>
            <a:prstGeom prst="rect">
              <a:avLst/>
            </a:prstGeom>
          </p:spPr>
          <p:txBody>
            <a:bodyPr anchor="ctr" rtlCol="false" tIns="50800" lIns="50800" bIns="50800" rIns="50800"/>
            <a:lstStyle/>
            <a:p>
              <a:pPr algn="ctr">
                <a:lnSpc>
                  <a:spcPts val="2251"/>
                </a:lnSpc>
              </a:pPr>
            </a:p>
          </p:txBody>
        </p:sp>
      </p:gr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5534485" y="-2324634"/>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35041" y="8510365"/>
            <a:ext cx="6448517" cy="6448517"/>
          </a:xfrm>
          <a:custGeom>
            <a:avLst/>
            <a:gdLst/>
            <a:ahLst/>
            <a:cxnLst/>
            <a:rect r="r" b="b" t="t" l="l"/>
            <a:pathLst>
              <a:path h="6448517" w="6448517">
                <a:moveTo>
                  <a:pt x="0" y="0"/>
                </a:moveTo>
                <a:lnTo>
                  <a:pt x="6448518" y="0"/>
                </a:lnTo>
                <a:lnTo>
                  <a:pt x="6448518"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182428" y="9863219"/>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10800000">
            <a:off x="12138501" y="3350023"/>
            <a:ext cx="4193427" cy="4114800"/>
          </a:xfrm>
          <a:custGeom>
            <a:avLst/>
            <a:gdLst/>
            <a:ahLst/>
            <a:cxnLst/>
            <a:rect r="r" b="b" t="t" l="l"/>
            <a:pathLst>
              <a:path h="4114800" w="4193427">
                <a:moveTo>
                  <a:pt x="0" y="0"/>
                </a:moveTo>
                <a:lnTo>
                  <a:pt x="4193426" y="0"/>
                </a:lnTo>
                <a:lnTo>
                  <a:pt x="4193426"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480072" y="1605238"/>
            <a:ext cx="5330650" cy="3092057"/>
          </a:xfrm>
          <a:custGeom>
            <a:avLst/>
            <a:gdLst/>
            <a:ahLst/>
            <a:cxnLst/>
            <a:rect r="r" b="b" t="t" l="l"/>
            <a:pathLst>
              <a:path h="3092057" w="5330650">
                <a:moveTo>
                  <a:pt x="0" y="0"/>
                </a:moveTo>
                <a:lnTo>
                  <a:pt x="5330650" y="0"/>
                </a:lnTo>
                <a:lnTo>
                  <a:pt x="5330650" y="3092057"/>
                </a:lnTo>
                <a:lnTo>
                  <a:pt x="0" y="3092057"/>
                </a:lnTo>
                <a:lnTo>
                  <a:pt x="0" y="0"/>
                </a:lnTo>
                <a:close/>
              </a:path>
            </a:pathLst>
          </a:custGeom>
          <a:blipFill>
            <a:blip r:embed="rId7"/>
            <a:stretch>
              <a:fillRect l="0" t="0" r="0" b="0"/>
            </a:stretch>
          </a:blipFill>
        </p:spPr>
      </p:sp>
      <p:sp>
        <p:nvSpPr>
          <p:cNvPr name="Freeform 16" id="16"/>
          <p:cNvSpPr/>
          <p:nvPr/>
        </p:nvSpPr>
        <p:spPr>
          <a:xfrm flipH="false" flipV="false" rot="0">
            <a:off x="1480072" y="4959148"/>
            <a:ext cx="5330650" cy="5034935"/>
          </a:xfrm>
          <a:custGeom>
            <a:avLst/>
            <a:gdLst/>
            <a:ahLst/>
            <a:cxnLst/>
            <a:rect r="r" b="b" t="t" l="l"/>
            <a:pathLst>
              <a:path h="5034935" w="5330650">
                <a:moveTo>
                  <a:pt x="0" y="0"/>
                </a:moveTo>
                <a:lnTo>
                  <a:pt x="5330650" y="0"/>
                </a:lnTo>
                <a:lnTo>
                  <a:pt x="5330650" y="5034936"/>
                </a:lnTo>
                <a:lnTo>
                  <a:pt x="0" y="5034936"/>
                </a:lnTo>
                <a:lnTo>
                  <a:pt x="0" y="0"/>
                </a:lnTo>
                <a:close/>
              </a:path>
            </a:pathLst>
          </a:custGeom>
          <a:blipFill>
            <a:blip r:embed="rId8"/>
            <a:stretch>
              <a:fillRect l="0" t="0" r="0" b="0"/>
            </a:stretch>
          </a:blipFill>
        </p:spPr>
      </p:sp>
      <p:sp>
        <p:nvSpPr>
          <p:cNvPr name="Freeform 17" id="17"/>
          <p:cNvSpPr/>
          <p:nvPr/>
        </p:nvSpPr>
        <p:spPr>
          <a:xfrm flipH="false" flipV="false" rot="0">
            <a:off x="8653554" y="1398957"/>
            <a:ext cx="6320019" cy="6077658"/>
          </a:xfrm>
          <a:custGeom>
            <a:avLst/>
            <a:gdLst/>
            <a:ahLst/>
            <a:cxnLst/>
            <a:rect r="r" b="b" t="t" l="l"/>
            <a:pathLst>
              <a:path h="6077658" w="6320019">
                <a:moveTo>
                  <a:pt x="0" y="0"/>
                </a:moveTo>
                <a:lnTo>
                  <a:pt x="6320019" y="0"/>
                </a:lnTo>
                <a:lnTo>
                  <a:pt x="6320019" y="6077659"/>
                </a:lnTo>
                <a:lnTo>
                  <a:pt x="0" y="6077659"/>
                </a:lnTo>
                <a:lnTo>
                  <a:pt x="0" y="0"/>
                </a:lnTo>
                <a:close/>
              </a:path>
            </a:pathLst>
          </a:custGeom>
          <a:blipFill>
            <a:blip r:embed="rId9"/>
            <a:stretch>
              <a:fillRect l="0" t="0" r="0" b="0"/>
            </a:stretch>
          </a:blipFill>
        </p:spPr>
      </p:sp>
      <p:sp>
        <p:nvSpPr>
          <p:cNvPr name="TextBox 18" id="18"/>
          <p:cNvSpPr txBox="true"/>
          <p:nvPr/>
        </p:nvSpPr>
        <p:spPr>
          <a:xfrm rot="0">
            <a:off x="10182428" y="474026"/>
            <a:ext cx="2470004" cy="477601"/>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Hasil Output</a:t>
            </a:r>
          </a:p>
        </p:txBody>
      </p:sp>
      <p:sp>
        <p:nvSpPr>
          <p:cNvPr name="TextBox 19" id="19"/>
          <p:cNvSpPr txBox="true"/>
          <p:nvPr/>
        </p:nvSpPr>
        <p:spPr>
          <a:xfrm rot="0">
            <a:off x="1480072" y="258833"/>
            <a:ext cx="6906781" cy="1404637"/>
          </a:xfrm>
          <a:prstGeom prst="rect">
            <a:avLst/>
          </a:prstGeom>
        </p:spPr>
        <p:txBody>
          <a:bodyPr anchor="t" rtlCol="false" tIns="0" lIns="0" bIns="0" rIns="0">
            <a:spAutoFit/>
          </a:bodyPr>
          <a:lstStyle/>
          <a:p>
            <a:pPr algn="ctr">
              <a:lnSpc>
                <a:spcPts val="3652"/>
              </a:lnSpc>
            </a:pPr>
            <a:r>
              <a:rPr lang="en-US" sz="3261">
                <a:solidFill>
                  <a:srgbClr val="000000"/>
                </a:solidFill>
                <a:latin typeface="Open Sauce"/>
                <a:ea typeface="Open Sauce"/>
                <a:cs typeface="Open Sauce"/>
                <a:sym typeface="Open Sauce"/>
              </a:rPr>
              <a:t>EKSTRAK SUMBER DATA KE-1 PDF IPM SUMBER BPS</a:t>
            </a:r>
          </a:p>
          <a:p>
            <a:pPr algn="ctr">
              <a:lnSpc>
                <a:spcPts val="3652"/>
              </a:lnSpc>
              <a:spcBef>
                <a:spcPct val="0"/>
              </a:spcBef>
            </a:pP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5534485" y="-2324634"/>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35041" y="8510365"/>
            <a:ext cx="6448517" cy="6448517"/>
          </a:xfrm>
          <a:custGeom>
            <a:avLst/>
            <a:gdLst/>
            <a:ahLst/>
            <a:cxnLst/>
            <a:rect r="r" b="b" t="t" l="l"/>
            <a:pathLst>
              <a:path h="6448517" w="6448517">
                <a:moveTo>
                  <a:pt x="0" y="0"/>
                </a:moveTo>
                <a:lnTo>
                  <a:pt x="6448518" y="0"/>
                </a:lnTo>
                <a:lnTo>
                  <a:pt x="6448518"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182428" y="9863219"/>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10800000">
            <a:off x="11417430" y="1916788"/>
            <a:ext cx="5947576" cy="5836059"/>
          </a:xfrm>
          <a:custGeom>
            <a:avLst/>
            <a:gdLst/>
            <a:ahLst/>
            <a:cxnLst/>
            <a:rect r="r" b="b" t="t" l="l"/>
            <a:pathLst>
              <a:path h="5836059" w="5947576">
                <a:moveTo>
                  <a:pt x="0" y="0"/>
                </a:moveTo>
                <a:lnTo>
                  <a:pt x="5947576" y="0"/>
                </a:lnTo>
                <a:lnTo>
                  <a:pt x="5947576" y="5836059"/>
                </a:lnTo>
                <a:lnTo>
                  <a:pt x="0" y="58360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1957764" y="1824741"/>
            <a:ext cx="13378117" cy="3010076"/>
          </a:xfrm>
          <a:custGeom>
            <a:avLst/>
            <a:gdLst/>
            <a:ahLst/>
            <a:cxnLst/>
            <a:rect r="r" b="b" t="t" l="l"/>
            <a:pathLst>
              <a:path h="3010076" w="13378117">
                <a:moveTo>
                  <a:pt x="0" y="0"/>
                </a:moveTo>
                <a:lnTo>
                  <a:pt x="13378117" y="0"/>
                </a:lnTo>
                <a:lnTo>
                  <a:pt x="13378117" y="3010077"/>
                </a:lnTo>
                <a:lnTo>
                  <a:pt x="0" y="3010077"/>
                </a:lnTo>
                <a:lnTo>
                  <a:pt x="0" y="0"/>
                </a:lnTo>
                <a:close/>
              </a:path>
            </a:pathLst>
          </a:custGeom>
          <a:blipFill>
            <a:blip r:embed="rId7"/>
            <a:stretch>
              <a:fillRect l="0" t="0" r="0" b="0"/>
            </a:stretch>
          </a:blipFill>
        </p:spPr>
      </p:sp>
      <p:sp>
        <p:nvSpPr>
          <p:cNvPr name="Freeform 16" id="16"/>
          <p:cNvSpPr/>
          <p:nvPr/>
        </p:nvSpPr>
        <p:spPr>
          <a:xfrm flipH="false" flipV="false" rot="0">
            <a:off x="1957764" y="6140673"/>
            <a:ext cx="12975515" cy="2416690"/>
          </a:xfrm>
          <a:custGeom>
            <a:avLst/>
            <a:gdLst/>
            <a:ahLst/>
            <a:cxnLst/>
            <a:rect r="r" b="b" t="t" l="l"/>
            <a:pathLst>
              <a:path h="2416690" w="12975515">
                <a:moveTo>
                  <a:pt x="0" y="0"/>
                </a:moveTo>
                <a:lnTo>
                  <a:pt x="12975515" y="0"/>
                </a:lnTo>
                <a:lnTo>
                  <a:pt x="12975515" y="2416690"/>
                </a:lnTo>
                <a:lnTo>
                  <a:pt x="0" y="2416690"/>
                </a:lnTo>
                <a:lnTo>
                  <a:pt x="0" y="0"/>
                </a:lnTo>
                <a:close/>
              </a:path>
            </a:pathLst>
          </a:custGeom>
          <a:blipFill>
            <a:blip r:embed="rId8"/>
            <a:stretch>
              <a:fillRect l="0" t="0" r="0" b="0"/>
            </a:stretch>
          </a:blipFill>
        </p:spPr>
      </p:sp>
      <p:sp>
        <p:nvSpPr>
          <p:cNvPr name="TextBox 17" id="17"/>
          <p:cNvSpPr txBox="true"/>
          <p:nvPr/>
        </p:nvSpPr>
        <p:spPr>
          <a:xfrm rot="0">
            <a:off x="1480072" y="200976"/>
            <a:ext cx="6128321" cy="1664974"/>
          </a:xfrm>
          <a:prstGeom prst="rect">
            <a:avLst/>
          </a:prstGeom>
        </p:spPr>
        <p:txBody>
          <a:bodyPr anchor="t" rtlCol="false" tIns="0" lIns="0" bIns="0" rIns="0">
            <a:spAutoFit/>
          </a:bodyPr>
          <a:lstStyle/>
          <a:p>
            <a:pPr algn="ctr">
              <a:lnSpc>
                <a:spcPts val="3240"/>
              </a:lnSpc>
            </a:pPr>
            <a:r>
              <a:rPr lang="en-US" sz="2893">
                <a:solidFill>
                  <a:srgbClr val="000000"/>
                </a:solidFill>
                <a:latin typeface="Open Sauce"/>
                <a:ea typeface="Open Sauce"/>
                <a:cs typeface="Open Sauce"/>
                <a:sym typeface="Open Sauce"/>
              </a:rPr>
              <a:t>SUMBER DATA KE-2 YAITU TINGKAT PENGANGGURAN TERBUKA DARI OPENDATA.JABAR</a:t>
            </a:r>
          </a:p>
          <a:p>
            <a:pPr algn="ctr">
              <a:lnSpc>
                <a:spcPts val="3240"/>
              </a:lnSpc>
              <a:spcBef>
                <a:spcPct val="0"/>
              </a:spcBef>
            </a:pPr>
          </a:p>
        </p:txBody>
      </p:sp>
      <p:sp>
        <p:nvSpPr>
          <p:cNvPr name="TextBox 18" id="18"/>
          <p:cNvSpPr txBox="true"/>
          <p:nvPr/>
        </p:nvSpPr>
        <p:spPr>
          <a:xfrm rot="0">
            <a:off x="-522473" y="5416948"/>
            <a:ext cx="6128321" cy="431148"/>
          </a:xfrm>
          <a:prstGeom prst="rect">
            <a:avLst/>
          </a:prstGeom>
        </p:spPr>
        <p:txBody>
          <a:bodyPr anchor="t" rtlCol="false" tIns="0" lIns="0" bIns="0" rIns="0">
            <a:spAutoFit/>
          </a:bodyPr>
          <a:lstStyle/>
          <a:p>
            <a:pPr algn="ctr">
              <a:lnSpc>
                <a:spcPts val="3240"/>
              </a:lnSpc>
              <a:spcBef>
                <a:spcPct val="0"/>
              </a:spcBef>
            </a:pPr>
            <a:r>
              <a:rPr lang="en-US" sz="2893">
                <a:solidFill>
                  <a:srgbClr val="000000"/>
                </a:solidFill>
                <a:latin typeface="Open Sauce"/>
                <a:ea typeface="Open Sauce"/>
                <a:cs typeface="Open Sauce"/>
                <a:sym typeface="Open Sauce"/>
              </a:rPr>
              <a:t>output</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5534485" y="-2324634"/>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35041" y="8510365"/>
            <a:ext cx="6448517" cy="6448517"/>
          </a:xfrm>
          <a:custGeom>
            <a:avLst/>
            <a:gdLst/>
            <a:ahLst/>
            <a:cxnLst/>
            <a:rect r="r" b="b" t="t" l="l"/>
            <a:pathLst>
              <a:path h="6448517" w="6448517">
                <a:moveTo>
                  <a:pt x="0" y="0"/>
                </a:moveTo>
                <a:lnTo>
                  <a:pt x="6448518" y="0"/>
                </a:lnTo>
                <a:lnTo>
                  <a:pt x="6448518"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182428" y="9863219"/>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1478224" y="2043212"/>
            <a:ext cx="7234498" cy="4413044"/>
          </a:xfrm>
          <a:custGeom>
            <a:avLst/>
            <a:gdLst/>
            <a:ahLst/>
            <a:cxnLst/>
            <a:rect r="r" b="b" t="t" l="l"/>
            <a:pathLst>
              <a:path h="4413044" w="7234498">
                <a:moveTo>
                  <a:pt x="0" y="0"/>
                </a:moveTo>
                <a:lnTo>
                  <a:pt x="7234498" y="0"/>
                </a:lnTo>
                <a:lnTo>
                  <a:pt x="7234498" y="4413044"/>
                </a:lnTo>
                <a:lnTo>
                  <a:pt x="0" y="4413044"/>
                </a:lnTo>
                <a:lnTo>
                  <a:pt x="0" y="0"/>
                </a:lnTo>
                <a:close/>
              </a:path>
            </a:pathLst>
          </a:custGeom>
          <a:blipFill>
            <a:blip r:embed="rId5"/>
            <a:stretch>
              <a:fillRect l="0" t="0" r="0" b="0"/>
            </a:stretch>
          </a:blipFill>
        </p:spPr>
      </p:sp>
      <p:sp>
        <p:nvSpPr>
          <p:cNvPr name="Freeform 15" id="15"/>
          <p:cNvSpPr/>
          <p:nvPr/>
        </p:nvSpPr>
        <p:spPr>
          <a:xfrm flipH="false" flipV="false" rot="0">
            <a:off x="9977828" y="2043212"/>
            <a:ext cx="7924059" cy="3100288"/>
          </a:xfrm>
          <a:custGeom>
            <a:avLst/>
            <a:gdLst/>
            <a:ahLst/>
            <a:cxnLst/>
            <a:rect r="r" b="b" t="t" l="l"/>
            <a:pathLst>
              <a:path h="3100288" w="7924059">
                <a:moveTo>
                  <a:pt x="0" y="0"/>
                </a:moveTo>
                <a:lnTo>
                  <a:pt x="7924059" y="0"/>
                </a:lnTo>
                <a:lnTo>
                  <a:pt x="7924059" y="3100288"/>
                </a:lnTo>
                <a:lnTo>
                  <a:pt x="0" y="3100288"/>
                </a:lnTo>
                <a:lnTo>
                  <a:pt x="0" y="0"/>
                </a:lnTo>
                <a:close/>
              </a:path>
            </a:pathLst>
          </a:custGeom>
          <a:blipFill>
            <a:blip r:embed="rId6"/>
            <a:stretch>
              <a:fillRect l="0" t="0" r="0" b="0"/>
            </a:stretch>
          </a:blipFill>
        </p:spPr>
      </p:sp>
      <p:sp>
        <p:nvSpPr>
          <p:cNvPr name="Freeform 16" id="16"/>
          <p:cNvSpPr/>
          <p:nvPr/>
        </p:nvSpPr>
        <p:spPr>
          <a:xfrm flipH="false" flipV="false" rot="0">
            <a:off x="1478224" y="6671169"/>
            <a:ext cx="6513040" cy="3443770"/>
          </a:xfrm>
          <a:custGeom>
            <a:avLst/>
            <a:gdLst/>
            <a:ahLst/>
            <a:cxnLst/>
            <a:rect r="r" b="b" t="t" l="l"/>
            <a:pathLst>
              <a:path h="3443770" w="6513040">
                <a:moveTo>
                  <a:pt x="0" y="0"/>
                </a:moveTo>
                <a:lnTo>
                  <a:pt x="6513040" y="0"/>
                </a:lnTo>
                <a:lnTo>
                  <a:pt x="6513040" y="3443770"/>
                </a:lnTo>
                <a:lnTo>
                  <a:pt x="0" y="3443770"/>
                </a:lnTo>
                <a:lnTo>
                  <a:pt x="0" y="0"/>
                </a:lnTo>
                <a:close/>
              </a:path>
            </a:pathLst>
          </a:custGeom>
          <a:blipFill>
            <a:blip r:embed="rId7"/>
            <a:stretch>
              <a:fillRect l="0" t="0" r="0" b="0"/>
            </a:stretch>
          </a:blipFill>
        </p:spPr>
      </p:sp>
      <p:sp>
        <p:nvSpPr>
          <p:cNvPr name="TextBox 17" id="17"/>
          <p:cNvSpPr txBox="true"/>
          <p:nvPr/>
        </p:nvSpPr>
        <p:spPr>
          <a:xfrm rot="0">
            <a:off x="9977828" y="1169303"/>
            <a:ext cx="2470004" cy="477601"/>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Hasil Output</a:t>
            </a:r>
          </a:p>
        </p:txBody>
      </p:sp>
      <p:sp>
        <p:nvSpPr>
          <p:cNvPr name="TextBox 18" id="18"/>
          <p:cNvSpPr txBox="true"/>
          <p:nvPr/>
        </p:nvSpPr>
        <p:spPr>
          <a:xfrm rot="0">
            <a:off x="1820575" y="474026"/>
            <a:ext cx="6906781" cy="1868155"/>
          </a:xfrm>
          <a:prstGeom prst="rect">
            <a:avLst/>
          </a:prstGeom>
        </p:spPr>
        <p:txBody>
          <a:bodyPr anchor="t" rtlCol="false" tIns="0" lIns="0" bIns="0" rIns="0">
            <a:spAutoFit/>
          </a:bodyPr>
          <a:lstStyle/>
          <a:p>
            <a:pPr algn="ctr">
              <a:lnSpc>
                <a:spcPts val="3652"/>
              </a:lnSpc>
            </a:pPr>
            <a:r>
              <a:rPr lang="en-US" sz="3261">
                <a:solidFill>
                  <a:srgbClr val="000000"/>
                </a:solidFill>
                <a:latin typeface="Open Sauce"/>
                <a:ea typeface="Open Sauce"/>
                <a:cs typeface="Open Sauce"/>
                <a:sym typeface="Open Sauce"/>
              </a:rPr>
              <a:t>SUMBER KE-3 YAITU JUMLAH TINDAK PIDANA BERUPA 3 CSV SUMBER BPS LALU MERGE</a:t>
            </a:r>
          </a:p>
          <a:p>
            <a:pPr algn="ctr">
              <a:lnSpc>
                <a:spcPts val="3652"/>
              </a:lnSpc>
              <a:spcBef>
                <a:spcPct val="0"/>
              </a:spcBef>
            </a:pP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5534485" y="-2324634"/>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35041" y="8510365"/>
            <a:ext cx="6448517" cy="6448517"/>
          </a:xfrm>
          <a:custGeom>
            <a:avLst/>
            <a:gdLst/>
            <a:ahLst/>
            <a:cxnLst/>
            <a:rect r="r" b="b" t="t" l="l"/>
            <a:pathLst>
              <a:path h="6448517" w="6448517">
                <a:moveTo>
                  <a:pt x="0" y="0"/>
                </a:moveTo>
                <a:lnTo>
                  <a:pt x="6448518" y="0"/>
                </a:lnTo>
                <a:lnTo>
                  <a:pt x="6448518"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182428" y="9863219"/>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1615799" y="1874829"/>
            <a:ext cx="7316334" cy="6107628"/>
          </a:xfrm>
          <a:custGeom>
            <a:avLst/>
            <a:gdLst/>
            <a:ahLst/>
            <a:cxnLst/>
            <a:rect r="r" b="b" t="t" l="l"/>
            <a:pathLst>
              <a:path h="6107628" w="7316334">
                <a:moveTo>
                  <a:pt x="0" y="0"/>
                </a:moveTo>
                <a:lnTo>
                  <a:pt x="7316334" y="0"/>
                </a:lnTo>
                <a:lnTo>
                  <a:pt x="7316334" y="6107628"/>
                </a:lnTo>
                <a:lnTo>
                  <a:pt x="0" y="6107628"/>
                </a:lnTo>
                <a:lnTo>
                  <a:pt x="0" y="0"/>
                </a:lnTo>
                <a:close/>
              </a:path>
            </a:pathLst>
          </a:custGeom>
          <a:blipFill>
            <a:blip r:embed="rId5"/>
            <a:stretch>
              <a:fillRect l="0" t="0" r="0" b="0"/>
            </a:stretch>
          </a:blipFill>
        </p:spPr>
      </p:sp>
      <p:sp>
        <p:nvSpPr>
          <p:cNvPr name="Freeform 15" id="15"/>
          <p:cNvSpPr/>
          <p:nvPr/>
        </p:nvSpPr>
        <p:spPr>
          <a:xfrm flipH="false" flipV="false" rot="0">
            <a:off x="9977828" y="1874829"/>
            <a:ext cx="7770756" cy="1719280"/>
          </a:xfrm>
          <a:custGeom>
            <a:avLst/>
            <a:gdLst/>
            <a:ahLst/>
            <a:cxnLst/>
            <a:rect r="r" b="b" t="t" l="l"/>
            <a:pathLst>
              <a:path h="1719280" w="7770756">
                <a:moveTo>
                  <a:pt x="0" y="0"/>
                </a:moveTo>
                <a:lnTo>
                  <a:pt x="7770756" y="0"/>
                </a:lnTo>
                <a:lnTo>
                  <a:pt x="7770756" y="1719280"/>
                </a:lnTo>
                <a:lnTo>
                  <a:pt x="0" y="1719280"/>
                </a:lnTo>
                <a:lnTo>
                  <a:pt x="0" y="0"/>
                </a:lnTo>
                <a:close/>
              </a:path>
            </a:pathLst>
          </a:custGeom>
          <a:blipFill>
            <a:blip r:embed="rId6"/>
            <a:stretch>
              <a:fillRect l="0" t="0" r="0" b="0"/>
            </a:stretch>
          </a:blipFill>
        </p:spPr>
      </p:sp>
      <p:sp>
        <p:nvSpPr>
          <p:cNvPr name="TextBox 16" id="16"/>
          <p:cNvSpPr txBox="true"/>
          <p:nvPr/>
        </p:nvSpPr>
        <p:spPr>
          <a:xfrm rot="0">
            <a:off x="9977828" y="1169303"/>
            <a:ext cx="2470004" cy="477601"/>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Hasil Output</a:t>
            </a:r>
          </a:p>
        </p:txBody>
      </p:sp>
      <p:sp>
        <p:nvSpPr>
          <p:cNvPr name="TextBox 17" id="17"/>
          <p:cNvSpPr txBox="true"/>
          <p:nvPr/>
        </p:nvSpPr>
        <p:spPr>
          <a:xfrm rot="0">
            <a:off x="1820575" y="474026"/>
            <a:ext cx="6906781" cy="941119"/>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SUMBER KE-4 YAITU PENDUDUK MISKIN CSV SUMBER KAGGLE</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grpSp>
        <p:nvGrpSpPr>
          <p:cNvPr name="Group 6" id="6"/>
          <p:cNvGrpSpPr/>
          <p:nvPr/>
        </p:nvGrpSpPr>
        <p:grpSpPr>
          <a:xfrm rot="0">
            <a:off x="497164" y="431877"/>
            <a:ext cx="17790836" cy="9423247"/>
            <a:chOff x="0" y="0"/>
            <a:chExt cx="4685652" cy="2481843"/>
          </a:xfrm>
        </p:grpSpPr>
        <p:sp>
          <p:nvSpPr>
            <p:cNvPr name="Freeform 7" id="7"/>
            <p:cNvSpPr/>
            <p:nvPr/>
          </p:nvSpPr>
          <p:spPr>
            <a:xfrm flipH="false" flipV="false" rot="0">
              <a:off x="0" y="0"/>
              <a:ext cx="4685652" cy="2481843"/>
            </a:xfrm>
            <a:custGeom>
              <a:avLst/>
              <a:gdLst/>
              <a:ahLst/>
              <a:cxnLst/>
              <a:rect r="r" b="b" t="t" l="l"/>
              <a:pathLst>
                <a:path h="2481843" w="4685652">
                  <a:moveTo>
                    <a:pt x="0" y="0"/>
                  </a:moveTo>
                  <a:lnTo>
                    <a:pt x="4685652" y="0"/>
                  </a:lnTo>
                  <a:lnTo>
                    <a:pt x="4685652" y="2481843"/>
                  </a:lnTo>
                  <a:lnTo>
                    <a:pt x="0" y="2481843"/>
                  </a:lnTo>
                  <a:close/>
                </a:path>
              </a:pathLst>
            </a:custGeom>
            <a:solidFill>
              <a:srgbClr val="04458F"/>
            </a:solidFill>
          </p:spPr>
        </p:sp>
        <p:sp>
          <p:nvSpPr>
            <p:cNvPr name="TextBox 8" id="8"/>
            <p:cNvSpPr txBox="true"/>
            <p:nvPr/>
          </p:nvSpPr>
          <p:spPr>
            <a:xfrm>
              <a:off x="0" y="19050"/>
              <a:ext cx="4685652" cy="2462793"/>
            </a:xfrm>
            <a:prstGeom prst="rect">
              <a:avLst/>
            </a:prstGeom>
          </p:spPr>
          <p:txBody>
            <a:bodyPr anchor="ctr" rtlCol="false" tIns="50800" lIns="50800" bIns="50800" rIns="50800"/>
            <a:lstStyle/>
            <a:p>
              <a:pPr algn="ctr">
                <a:lnSpc>
                  <a:spcPts val="2251"/>
                </a:lnSpc>
              </a:pPr>
            </a:p>
          </p:txBody>
        </p:sp>
      </p:grpSp>
      <p:sp>
        <p:nvSpPr>
          <p:cNvPr name="TextBox 9" id="9"/>
          <p:cNvSpPr txBox="true"/>
          <p:nvPr/>
        </p:nvSpPr>
        <p:spPr>
          <a:xfrm rot="0">
            <a:off x="1568614" y="4451762"/>
            <a:ext cx="15150773" cy="1345375"/>
          </a:xfrm>
          <a:prstGeom prst="rect">
            <a:avLst/>
          </a:prstGeom>
        </p:spPr>
        <p:txBody>
          <a:bodyPr anchor="t" rtlCol="false" tIns="0" lIns="0" bIns="0" rIns="0">
            <a:spAutoFit/>
          </a:bodyPr>
          <a:lstStyle/>
          <a:p>
            <a:pPr algn="ctr" marL="0" indent="0" lvl="0">
              <a:lnSpc>
                <a:spcPts val="10787"/>
              </a:lnSpc>
            </a:pPr>
            <a:r>
              <a:rPr lang="en-US" b="true" sz="8629" i="true">
                <a:solidFill>
                  <a:srgbClr val="FFFFFF"/>
                </a:solidFill>
                <a:latin typeface="Open Sauce Bold Italics"/>
                <a:ea typeface="Open Sauce Bold Italics"/>
                <a:cs typeface="Open Sauce Bold Italics"/>
                <a:sym typeface="Open Sauce Bold Italics"/>
              </a:rPr>
              <a:t>ANALISIS DAN HASIL DATA</a:t>
            </a:r>
          </a:p>
        </p:txBody>
      </p:sp>
      <p:grpSp>
        <p:nvGrpSpPr>
          <p:cNvPr name="Group 10" id="10"/>
          <p:cNvGrpSpPr/>
          <p:nvPr/>
        </p:nvGrpSpPr>
        <p:grpSpPr>
          <a:xfrm rot="0">
            <a:off x="6622374" y="9455750"/>
            <a:ext cx="11665626" cy="2028721"/>
            <a:chOff x="0" y="0"/>
            <a:chExt cx="3072428" cy="534313"/>
          </a:xfrm>
        </p:grpSpPr>
        <p:sp>
          <p:nvSpPr>
            <p:cNvPr name="Freeform 11" id="11"/>
            <p:cNvSpPr/>
            <p:nvPr/>
          </p:nvSpPr>
          <p:spPr>
            <a:xfrm flipH="false" flipV="false" rot="0">
              <a:off x="0" y="0"/>
              <a:ext cx="3072428" cy="534313"/>
            </a:xfrm>
            <a:custGeom>
              <a:avLst/>
              <a:gdLst/>
              <a:ahLst/>
              <a:cxnLst/>
              <a:rect r="r" b="b" t="t" l="l"/>
              <a:pathLst>
                <a:path h="534313" w="3072428">
                  <a:moveTo>
                    <a:pt x="0" y="0"/>
                  </a:moveTo>
                  <a:lnTo>
                    <a:pt x="3072428" y="0"/>
                  </a:lnTo>
                  <a:lnTo>
                    <a:pt x="3072428" y="534313"/>
                  </a:lnTo>
                  <a:lnTo>
                    <a:pt x="0" y="534313"/>
                  </a:lnTo>
                  <a:close/>
                </a:path>
              </a:pathLst>
            </a:custGeom>
            <a:solidFill>
              <a:srgbClr val="FFBD59"/>
            </a:solidFill>
          </p:spPr>
        </p:sp>
        <p:sp>
          <p:nvSpPr>
            <p:cNvPr name="TextBox 12" id="12"/>
            <p:cNvSpPr txBox="true"/>
            <p:nvPr/>
          </p:nvSpPr>
          <p:spPr>
            <a:xfrm>
              <a:off x="0" y="19050"/>
              <a:ext cx="3072428" cy="515263"/>
            </a:xfrm>
            <a:prstGeom prst="rect">
              <a:avLst/>
            </a:prstGeom>
          </p:spPr>
          <p:txBody>
            <a:bodyPr anchor="ctr" rtlCol="false" tIns="50800" lIns="50800" bIns="50800" rIns="50800"/>
            <a:lstStyle/>
            <a:p>
              <a:pPr algn="ctr">
                <a:lnSpc>
                  <a:spcPts val="2251"/>
                </a:lnSpc>
              </a:pPr>
            </a:p>
          </p:txBody>
        </p:sp>
      </p:gr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5534485" y="-2324634"/>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35041" y="8510365"/>
            <a:ext cx="6448517" cy="6448517"/>
          </a:xfrm>
          <a:custGeom>
            <a:avLst/>
            <a:gdLst/>
            <a:ahLst/>
            <a:cxnLst/>
            <a:rect r="r" b="b" t="t" l="l"/>
            <a:pathLst>
              <a:path h="6448517" w="6448517">
                <a:moveTo>
                  <a:pt x="0" y="0"/>
                </a:moveTo>
                <a:lnTo>
                  <a:pt x="6448518" y="0"/>
                </a:lnTo>
                <a:lnTo>
                  <a:pt x="6448518"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182428" y="9863219"/>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0" y="2723969"/>
            <a:ext cx="18288000" cy="4686300"/>
          </a:xfrm>
          <a:custGeom>
            <a:avLst/>
            <a:gdLst/>
            <a:ahLst/>
            <a:cxnLst/>
            <a:rect r="r" b="b" t="t" l="l"/>
            <a:pathLst>
              <a:path h="4686300" w="18288000">
                <a:moveTo>
                  <a:pt x="0" y="0"/>
                </a:moveTo>
                <a:lnTo>
                  <a:pt x="18288000" y="0"/>
                </a:lnTo>
                <a:lnTo>
                  <a:pt x="18288000" y="4686300"/>
                </a:lnTo>
                <a:lnTo>
                  <a:pt x="0" y="4686300"/>
                </a:lnTo>
                <a:lnTo>
                  <a:pt x="0" y="0"/>
                </a:lnTo>
                <a:close/>
              </a:path>
            </a:pathLst>
          </a:custGeom>
          <a:blipFill>
            <a:blip r:embed="rId5"/>
            <a:stretch>
              <a:fillRect l="0" t="0" r="0" b="0"/>
            </a:stretch>
          </a:blipFill>
        </p:spPr>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5534485" y="-2324634"/>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35041" y="8510365"/>
            <a:ext cx="6448517" cy="6448517"/>
          </a:xfrm>
          <a:custGeom>
            <a:avLst/>
            <a:gdLst/>
            <a:ahLst/>
            <a:cxnLst/>
            <a:rect r="r" b="b" t="t" l="l"/>
            <a:pathLst>
              <a:path h="6448517" w="6448517">
                <a:moveTo>
                  <a:pt x="0" y="0"/>
                </a:moveTo>
                <a:lnTo>
                  <a:pt x="6448518" y="0"/>
                </a:lnTo>
                <a:lnTo>
                  <a:pt x="6448518"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182428" y="9863219"/>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7717613" y="433760"/>
            <a:ext cx="3743994" cy="5893222"/>
          </a:xfrm>
          <a:custGeom>
            <a:avLst/>
            <a:gdLst/>
            <a:ahLst/>
            <a:cxnLst/>
            <a:rect r="r" b="b" t="t" l="l"/>
            <a:pathLst>
              <a:path h="5893222" w="3743994">
                <a:moveTo>
                  <a:pt x="0" y="0"/>
                </a:moveTo>
                <a:lnTo>
                  <a:pt x="3743994" y="0"/>
                </a:lnTo>
                <a:lnTo>
                  <a:pt x="3743994" y="5893222"/>
                </a:lnTo>
                <a:lnTo>
                  <a:pt x="0" y="5893222"/>
                </a:lnTo>
                <a:lnTo>
                  <a:pt x="0" y="0"/>
                </a:lnTo>
                <a:close/>
              </a:path>
            </a:pathLst>
          </a:custGeom>
          <a:blipFill>
            <a:blip r:embed="rId5"/>
            <a:stretch>
              <a:fillRect l="0" t="-2468" r="0" b="0"/>
            </a:stretch>
          </a:blipFill>
        </p:spPr>
      </p:sp>
      <p:sp>
        <p:nvSpPr>
          <p:cNvPr name="Freeform 15" id="15"/>
          <p:cNvSpPr/>
          <p:nvPr/>
        </p:nvSpPr>
        <p:spPr>
          <a:xfrm flipH="false" flipV="false" rot="0">
            <a:off x="319723" y="6588956"/>
            <a:ext cx="17648554" cy="2669344"/>
          </a:xfrm>
          <a:custGeom>
            <a:avLst/>
            <a:gdLst/>
            <a:ahLst/>
            <a:cxnLst/>
            <a:rect r="r" b="b" t="t" l="l"/>
            <a:pathLst>
              <a:path h="2669344" w="17648554">
                <a:moveTo>
                  <a:pt x="0" y="0"/>
                </a:moveTo>
                <a:lnTo>
                  <a:pt x="17648554" y="0"/>
                </a:lnTo>
                <a:lnTo>
                  <a:pt x="17648554" y="2669344"/>
                </a:lnTo>
                <a:lnTo>
                  <a:pt x="0" y="2669344"/>
                </a:lnTo>
                <a:lnTo>
                  <a:pt x="0" y="0"/>
                </a:lnTo>
                <a:close/>
              </a:path>
            </a:pathLst>
          </a:custGeom>
          <a:blipFill>
            <a:blip r:embed="rId6"/>
            <a:stretch>
              <a:fillRect l="0" t="0" r="0" b="0"/>
            </a:stretch>
          </a:blipFill>
        </p:spPr>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763967" y="-3075790"/>
            <a:ext cx="6151581" cy="6151581"/>
          </a:xfrm>
          <a:custGeom>
            <a:avLst/>
            <a:gdLst/>
            <a:ahLst/>
            <a:cxnLst/>
            <a:rect r="r" b="b" t="t" l="l"/>
            <a:pathLst>
              <a:path h="6151581" w="6151581">
                <a:moveTo>
                  <a:pt x="0" y="0"/>
                </a:moveTo>
                <a:lnTo>
                  <a:pt x="6151581" y="0"/>
                </a:lnTo>
                <a:lnTo>
                  <a:pt x="6151581"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51656" y="-239763"/>
            <a:ext cx="4013896" cy="2106909"/>
            <a:chOff x="0" y="0"/>
            <a:chExt cx="1122609" cy="589261"/>
          </a:xfrm>
        </p:grpSpPr>
        <p:sp>
          <p:nvSpPr>
            <p:cNvPr name="Freeform 6" id="6"/>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7" id="7"/>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8" id="8"/>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9" id="9"/>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0" id="10"/>
          <p:cNvGrpSpPr/>
          <p:nvPr/>
        </p:nvGrpSpPr>
        <p:grpSpPr>
          <a:xfrm rot="0">
            <a:off x="8665593" y="9258300"/>
            <a:ext cx="10174164" cy="5310057"/>
            <a:chOff x="0" y="0"/>
            <a:chExt cx="2679615" cy="1398534"/>
          </a:xfrm>
        </p:grpSpPr>
        <p:sp>
          <p:nvSpPr>
            <p:cNvPr name="Freeform 11" id="11"/>
            <p:cNvSpPr/>
            <p:nvPr/>
          </p:nvSpPr>
          <p:spPr>
            <a:xfrm flipH="false" flipV="false" rot="0">
              <a:off x="0" y="0"/>
              <a:ext cx="2679615" cy="1398534"/>
            </a:xfrm>
            <a:custGeom>
              <a:avLst/>
              <a:gdLst/>
              <a:ahLst/>
              <a:cxnLst/>
              <a:rect r="r" b="b" t="t" l="l"/>
              <a:pathLst>
                <a:path h="1398534" w="2679615">
                  <a:moveTo>
                    <a:pt x="73050" y="0"/>
                  </a:moveTo>
                  <a:lnTo>
                    <a:pt x="2606565" y="0"/>
                  </a:lnTo>
                  <a:cubicBezTo>
                    <a:pt x="2625939" y="0"/>
                    <a:pt x="2644520" y="7696"/>
                    <a:pt x="2658219" y="21396"/>
                  </a:cubicBezTo>
                  <a:cubicBezTo>
                    <a:pt x="2671919" y="35095"/>
                    <a:pt x="2679615" y="53676"/>
                    <a:pt x="2679615" y="73050"/>
                  </a:cubicBezTo>
                  <a:lnTo>
                    <a:pt x="2679615" y="1325483"/>
                  </a:lnTo>
                  <a:cubicBezTo>
                    <a:pt x="2679615" y="1344858"/>
                    <a:pt x="2671919" y="1363438"/>
                    <a:pt x="2658219" y="1377138"/>
                  </a:cubicBezTo>
                  <a:cubicBezTo>
                    <a:pt x="2644520" y="1390837"/>
                    <a:pt x="2625939" y="1398534"/>
                    <a:pt x="2606565" y="1398534"/>
                  </a:cubicBezTo>
                  <a:lnTo>
                    <a:pt x="73050" y="1398534"/>
                  </a:lnTo>
                  <a:cubicBezTo>
                    <a:pt x="53676" y="1398534"/>
                    <a:pt x="35095" y="1390837"/>
                    <a:pt x="21396" y="1377138"/>
                  </a:cubicBezTo>
                  <a:cubicBezTo>
                    <a:pt x="7696" y="1363438"/>
                    <a:pt x="0" y="1344858"/>
                    <a:pt x="0" y="1325483"/>
                  </a:cubicBezTo>
                  <a:lnTo>
                    <a:pt x="0" y="73050"/>
                  </a:lnTo>
                  <a:cubicBezTo>
                    <a:pt x="0" y="53676"/>
                    <a:pt x="7696" y="35095"/>
                    <a:pt x="21396" y="21396"/>
                  </a:cubicBezTo>
                  <a:cubicBezTo>
                    <a:pt x="35095" y="7696"/>
                    <a:pt x="53676" y="0"/>
                    <a:pt x="73050" y="0"/>
                  </a:cubicBezTo>
                  <a:close/>
                </a:path>
              </a:pathLst>
            </a:custGeom>
            <a:solidFill>
              <a:srgbClr val="04458F"/>
            </a:solidFill>
          </p:spPr>
        </p:sp>
        <p:sp>
          <p:nvSpPr>
            <p:cNvPr name="TextBox 12" id="12"/>
            <p:cNvSpPr txBox="true"/>
            <p:nvPr/>
          </p:nvSpPr>
          <p:spPr>
            <a:xfrm>
              <a:off x="0" y="19050"/>
              <a:ext cx="2679615" cy="1379484"/>
            </a:xfrm>
            <a:prstGeom prst="rect">
              <a:avLst/>
            </a:prstGeom>
          </p:spPr>
          <p:txBody>
            <a:bodyPr anchor="ctr" rtlCol="false" tIns="50800" lIns="50800" bIns="50800" rIns="50800"/>
            <a:lstStyle/>
            <a:p>
              <a:pPr algn="ctr">
                <a:lnSpc>
                  <a:spcPts val="2251"/>
                </a:lnSpc>
              </a:pPr>
            </a:p>
          </p:txBody>
        </p:sp>
      </p:grpSp>
      <p:grpSp>
        <p:nvGrpSpPr>
          <p:cNvPr name="Group 13" id="13"/>
          <p:cNvGrpSpPr/>
          <p:nvPr/>
        </p:nvGrpSpPr>
        <p:grpSpPr>
          <a:xfrm rot="0">
            <a:off x="7658395" y="9816549"/>
            <a:ext cx="10629605" cy="5310057"/>
            <a:chOff x="0" y="0"/>
            <a:chExt cx="2799567" cy="1398534"/>
          </a:xfrm>
        </p:grpSpPr>
        <p:sp>
          <p:nvSpPr>
            <p:cNvPr name="Freeform 14" id="14"/>
            <p:cNvSpPr/>
            <p:nvPr/>
          </p:nvSpPr>
          <p:spPr>
            <a:xfrm flipH="false" flipV="false" rot="0">
              <a:off x="0" y="0"/>
              <a:ext cx="2799567" cy="1398534"/>
            </a:xfrm>
            <a:custGeom>
              <a:avLst/>
              <a:gdLst/>
              <a:ahLst/>
              <a:cxnLst/>
              <a:rect r="r" b="b" t="t" l="l"/>
              <a:pathLst>
                <a:path h="1398534" w="2799567">
                  <a:moveTo>
                    <a:pt x="69920" y="0"/>
                  </a:moveTo>
                  <a:lnTo>
                    <a:pt x="2729647" y="0"/>
                  </a:lnTo>
                  <a:cubicBezTo>
                    <a:pt x="2768262" y="0"/>
                    <a:pt x="2799567" y="31304"/>
                    <a:pt x="2799567" y="69920"/>
                  </a:cubicBezTo>
                  <a:lnTo>
                    <a:pt x="2799567" y="1328613"/>
                  </a:lnTo>
                  <a:cubicBezTo>
                    <a:pt x="2799567" y="1347157"/>
                    <a:pt x="2792200" y="1364942"/>
                    <a:pt x="2779088" y="1378054"/>
                  </a:cubicBezTo>
                  <a:cubicBezTo>
                    <a:pt x="2765975" y="1391167"/>
                    <a:pt x="2748191" y="1398534"/>
                    <a:pt x="2729647" y="1398534"/>
                  </a:cubicBezTo>
                  <a:lnTo>
                    <a:pt x="69920" y="1398534"/>
                  </a:lnTo>
                  <a:cubicBezTo>
                    <a:pt x="31304" y="1398534"/>
                    <a:pt x="0" y="1367229"/>
                    <a:pt x="0" y="1328613"/>
                  </a:cubicBezTo>
                  <a:lnTo>
                    <a:pt x="0" y="69920"/>
                  </a:lnTo>
                  <a:cubicBezTo>
                    <a:pt x="0" y="51376"/>
                    <a:pt x="7367" y="33592"/>
                    <a:pt x="20479" y="20479"/>
                  </a:cubicBezTo>
                  <a:cubicBezTo>
                    <a:pt x="33592" y="7367"/>
                    <a:pt x="51376" y="0"/>
                    <a:pt x="69920" y="0"/>
                  </a:cubicBezTo>
                  <a:close/>
                </a:path>
              </a:pathLst>
            </a:custGeom>
            <a:solidFill>
              <a:srgbClr val="3E426F"/>
            </a:solidFill>
          </p:spPr>
        </p:sp>
        <p:sp>
          <p:nvSpPr>
            <p:cNvPr name="TextBox 15" id="15"/>
            <p:cNvSpPr txBox="true"/>
            <p:nvPr/>
          </p:nvSpPr>
          <p:spPr>
            <a:xfrm>
              <a:off x="0" y="19050"/>
              <a:ext cx="2799567" cy="1379484"/>
            </a:xfrm>
            <a:prstGeom prst="rect">
              <a:avLst/>
            </a:prstGeom>
          </p:spPr>
          <p:txBody>
            <a:bodyPr anchor="ctr" rtlCol="false" tIns="50800" lIns="50800" bIns="50800" rIns="50800"/>
            <a:lstStyle/>
            <a:p>
              <a:pPr algn="ctr">
                <a:lnSpc>
                  <a:spcPts val="2251"/>
                </a:lnSpc>
              </a:pPr>
            </a:p>
          </p:txBody>
        </p:sp>
      </p:grpSp>
      <p:sp>
        <p:nvSpPr>
          <p:cNvPr name="Freeform 16" id="16"/>
          <p:cNvSpPr/>
          <p:nvPr/>
        </p:nvSpPr>
        <p:spPr>
          <a:xfrm flipH="false" flipV="false" rot="0">
            <a:off x="419540" y="2280145"/>
            <a:ext cx="17448920" cy="6565156"/>
          </a:xfrm>
          <a:custGeom>
            <a:avLst/>
            <a:gdLst/>
            <a:ahLst/>
            <a:cxnLst/>
            <a:rect r="r" b="b" t="t" l="l"/>
            <a:pathLst>
              <a:path h="6565156" w="17448920">
                <a:moveTo>
                  <a:pt x="0" y="0"/>
                </a:moveTo>
                <a:lnTo>
                  <a:pt x="17448920" y="0"/>
                </a:lnTo>
                <a:lnTo>
                  <a:pt x="17448920" y="6565156"/>
                </a:lnTo>
                <a:lnTo>
                  <a:pt x="0" y="6565156"/>
                </a:lnTo>
                <a:lnTo>
                  <a:pt x="0" y="0"/>
                </a:lnTo>
                <a:close/>
              </a:path>
            </a:pathLst>
          </a:custGeom>
          <a:blipFill>
            <a:blip r:embed="rId7"/>
            <a:stretch>
              <a:fillRect l="0" t="0" r="0" b="0"/>
            </a:stretch>
          </a:blipFill>
        </p:spPr>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763967" y="-3075790"/>
            <a:ext cx="6151581" cy="6151581"/>
          </a:xfrm>
          <a:custGeom>
            <a:avLst/>
            <a:gdLst/>
            <a:ahLst/>
            <a:cxnLst/>
            <a:rect r="r" b="b" t="t" l="l"/>
            <a:pathLst>
              <a:path h="6151581" w="6151581">
                <a:moveTo>
                  <a:pt x="0" y="0"/>
                </a:moveTo>
                <a:lnTo>
                  <a:pt x="6151581" y="0"/>
                </a:lnTo>
                <a:lnTo>
                  <a:pt x="6151581"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51656" y="-239763"/>
            <a:ext cx="4013896" cy="2106909"/>
            <a:chOff x="0" y="0"/>
            <a:chExt cx="1122609" cy="589261"/>
          </a:xfrm>
        </p:grpSpPr>
        <p:sp>
          <p:nvSpPr>
            <p:cNvPr name="Freeform 6" id="6"/>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7" id="7"/>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8" id="8"/>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9" id="9"/>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0" id="10"/>
          <p:cNvGrpSpPr/>
          <p:nvPr/>
        </p:nvGrpSpPr>
        <p:grpSpPr>
          <a:xfrm rot="0">
            <a:off x="8665593" y="9258300"/>
            <a:ext cx="10174164" cy="5310057"/>
            <a:chOff x="0" y="0"/>
            <a:chExt cx="2679615" cy="1398534"/>
          </a:xfrm>
        </p:grpSpPr>
        <p:sp>
          <p:nvSpPr>
            <p:cNvPr name="Freeform 11" id="11"/>
            <p:cNvSpPr/>
            <p:nvPr/>
          </p:nvSpPr>
          <p:spPr>
            <a:xfrm flipH="false" flipV="false" rot="0">
              <a:off x="0" y="0"/>
              <a:ext cx="2679615" cy="1398534"/>
            </a:xfrm>
            <a:custGeom>
              <a:avLst/>
              <a:gdLst/>
              <a:ahLst/>
              <a:cxnLst/>
              <a:rect r="r" b="b" t="t" l="l"/>
              <a:pathLst>
                <a:path h="1398534" w="2679615">
                  <a:moveTo>
                    <a:pt x="73050" y="0"/>
                  </a:moveTo>
                  <a:lnTo>
                    <a:pt x="2606565" y="0"/>
                  </a:lnTo>
                  <a:cubicBezTo>
                    <a:pt x="2625939" y="0"/>
                    <a:pt x="2644520" y="7696"/>
                    <a:pt x="2658219" y="21396"/>
                  </a:cubicBezTo>
                  <a:cubicBezTo>
                    <a:pt x="2671919" y="35095"/>
                    <a:pt x="2679615" y="53676"/>
                    <a:pt x="2679615" y="73050"/>
                  </a:cubicBezTo>
                  <a:lnTo>
                    <a:pt x="2679615" y="1325483"/>
                  </a:lnTo>
                  <a:cubicBezTo>
                    <a:pt x="2679615" y="1344858"/>
                    <a:pt x="2671919" y="1363438"/>
                    <a:pt x="2658219" y="1377138"/>
                  </a:cubicBezTo>
                  <a:cubicBezTo>
                    <a:pt x="2644520" y="1390837"/>
                    <a:pt x="2625939" y="1398534"/>
                    <a:pt x="2606565" y="1398534"/>
                  </a:cubicBezTo>
                  <a:lnTo>
                    <a:pt x="73050" y="1398534"/>
                  </a:lnTo>
                  <a:cubicBezTo>
                    <a:pt x="53676" y="1398534"/>
                    <a:pt x="35095" y="1390837"/>
                    <a:pt x="21396" y="1377138"/>
                  </a:cubicBezTo>
                  <a:cubicBezTo>
                    <a:pt x="7696" y="1363438"/>
                    <a:pt x="0" y="1344858"/>
                    <a:pt x="0" y="1325483"/>
                  </a:cubicBezTo>
                  <a:lnTo>
                    <a:pt x="0" y="73050"/>
                  </a:lnTo>
                  <a:cubicBezTo>
                    <a:pt x="0" y="53676"/>
                    <a:pt x="7696" y="35095"/>
                    <a:pt x="21396" y="21396"/>
                  </a:cubicBezTo>
                  <a:cubicBezTo>
                    <a:pt x="35095" y="7696"/>
                    <a:pt x="53676" y="0"/>
                    <a:pt x="73050" y="0"/>
                  </a:cubicBezTo>
                  <a:close/>
                </a:path>
              </a:pathLst>
            </a:custGeom>
            <a:solidFill>
              <a:srgbClr val="04458F"/>
            </a:solidFill>
          </p:spPr>
        </p:sp>
        <p:sp>
          <p:nvSpPr>
            <p:cNvPr name="TextBox 12" id="12"/>
            <p:cNvSpPr txBox="true"/>
            <p:nvPr/>
          </p:nvSpPr>
          <p:spPr>
            <a:xfrm>
              <a:off x="0" y="19050"/>
              <a:ext cx="2679615" cy="1379484"/>
            </a:xfrm>
            <a:prstGeom prst="rect">
              <a:avLst/>
            </a:prstGeom>
          </p:spPr>
          <p:txBody>
            <a:bodyPr anchor="ctr" rtlCol="false" tIns="50800" lIns="50800" bIns="50800" rIns="50800"/>
            <a:lstStyle/>
            <a:p>
              <a:pPr algn="ctr">
                <a:lnSpc>
                  <a:spcPts val="2251"/>
                </a:lnSpc>
              </a:pPr>
            </a:p>
          </p:txBody>
        </p:sp>
      </p:grpSp>
      <p:grpSp>
        <p:nvGrpSpPr>
          <p:cNvPr name="Group 13" id="13"/>
          <p:cNvGrpSpPr/>
          <p:nvPr/>
        </p:nvGrpSpPr>
        <p:grpSpPr>
          <a:xfrm rot="0">
            <a:off x="7658395" y="9816549"/>
            <a:ext cx="10629605" cy="5310057"/>
            <a:chOff x="0" y="0"/>
            <a:chExt cx="2799567" cy="1398534"/>
          </a:xfrm>
        </p:grpSpPr>
        <p:sp>
          <p:nvSpPr>
            <p:cNvPr name="Freeform 14" id="14"/>
            <p:cNvSpPr/>
            <p:nvPr/>
          </p:nvSpPr>
          <p:spPr>
            <a:xfrm flipH="false" flipV="false" rot="0">
              <a:off x="0" y="0"/>
              <a:ext cx="2799567" cy="1398534"/>
            </a:xfrm>
            <a:custGeom>
              <a:avLst/>
              <a:gdLst/>
              <a:ahLst/>
              <a:cxnLst/>
              <a:rect r="r" b="b" t="t" l="l"/>
              <a:pathLst>
                <a:path h="1398534" w="2799567">
                  <a:moveTo>
                    <a:pt x="69920" y="0"/>
                  </a:moveTo>
                  <a:lnTo>
                    <a:pt x="2729647" y="0"/>
                  </a:lnTo>
                  <a:cubicBezTo>
                    <a:pt x="2768262" y="0"/>
                    <a:pt x="2799567" y="31304"/>
                    <a:pt x="2799567" y="69920"/>
                  </a:cubicBezTo>
                  <a:lnTo>
                    <a:pt x="2799567" y="1328613"/>
                  </a:lnTo>
                  <a:cubicBezTo>
                    <a:pt x="2799567" y="1347157"/>
                    <a:pt x="2792200" y="1364942"/>
                    <a:pt x="2779088" y="1378054"/>
                  </a:cubicBezTo>
                  <a:cubicBezTo>
                    <a:pt x="2765975" y="1391167"/>
                    <a:pt x="2748191" y="1398534"/>
                    <a:pt x="2729647" y="1398534"/>
                  </a:cubicBezTo>
                  <a:lnTo>
                    <a:pt x="69920" y="1398534"/>
                  </a:lnTo>
                  <a:cubicBezTo>
                    <a:pt x="31304" y="1398534"/>
                    <a:pt x="0" y="1367229"/>
                    <a:pt x="0" y="1328613"/>
                  </a:cubicBezTo>
                  <a:lnTo>
                    <a:pt x="0" y="69920"/>
                  </a:lnTo>
                  <a:cubicBezTo>
                    <a:pt x="0" y="51376"/>
                    <a:pt x="7367" y="33592"/>
                    <a:pt x="20479" y="20479"/>
                  </a:cubicBezTo>
                  <a:cubicBezTo>
                    <a:pt x="33592" y="7367"/>
                    <a:pt x="51376" y="0"/>
                    <a:pt x="69920" y="0"/>
                  </a:cubicBezTo>
                  <a:close/>
                </a:path>
              </a:pathLst>
            </a:custGeom>
            <a:solidFill>
              <a:srgbClr val="3E426F"/>
            </a:solidFill>
          </p:spPr>
        </p:sp>
        <p:sp>
          <p:nvSpPr>
            <p:cNvPr name="TextBox 15" id="15"/>
            <p:cNvSpPr txBox="true"/>
            <p:nvPr/>
          </p:nvSpPr>
          <p:spPr>
            <a:xfrm>
              <a:off x="0" y="19050"/>
              <a:ext cx="2799567" cy="1379484"/>
            </a:xfrm>
            <a:prstGeom prst="rect">
              <a:avLst/>
            </a:prstGeom>
          </p:spPr>
          <p:txBody>
            <a:bodyPr anchor="ctr" rtlCol="false" tIns="50800" lIns="50800" bIns="50800" rIns="50800"/>
            <a:lstStyle/>
            <a:p>
              <a:pPr algn="ctr">
                <a:lnSpc>
                  <a:spcPts val="2251"/>
                </a:lnSpc>
              </a:pPr>
            </a:p>
          </p:txBody>
        </p:sp>
      </p:grpSp>
      <p:sp>
        <p:nvSpPr>
          <p:cNvPr name="Freeform 16" id="16"/>
          <p:cNvSpPr/>
          <p:nvPr/>
        </p:nvSpPr>
        <p:spPr>
          <a:xfrm flipH="false" flipV="false" rot="0">
            <a:off x="564621" y="1888360"/>
            <a:ext cx="17443644" cy="7369940"/>
          </a:xfrm>
          <a:custGeom>
            <a:avLst/>
            <a:gdLst/>
            <a:ahLst/>
            <a:cxnLst/>
            <a:rect r="r" b="b" t="t" l="l"/>
            <a:pathLst>
              <a:path h="7369940" w="17443644">
                <a:moveTo>
                  <a:pt x="0" y="0"/>
                </a:moveTo>
                <a:lnTo>
                  <a:pt x="17443644" y="0"/>
                </a:lnTo>
                <a:lnTo>
                  <a:pt x="17443644" y="7369940"/>
                </a:lnTo>
                <a:lnTo>
                  <a:pt x="0" y="7369940"/>
                </a:lnTo>
                <a:lnTo>
                  <a:pt x="0" y="0"/>
                </a:lnTo>
                <a:close/>
              </a:path>
            </a:pathLst>
          </a:custGeom>
          <a:blipFill>
            <a:blip r:embed="rId7"/>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763967" y="-3075790"/>
            <a:ext cx="6151581" cy="6151581"/>
          </a:xfrm>
          <a:custGeom>
            <a:avLst/>
            <a:gdLst/>
            <a:ahLst/>
            <a:cxnLst/>
            <a:rect r="r" b="b" t="t" l="l"/>
            <a:pathLst>
              <a:path h="6151581" w="6151581">
                <a:moveTo>
                  <a:pt x="0" y="0"/>
                </a:moveTo>
                <a:lnTo>
                  <a:pt x="6151581" y="0"/>
                </a:lnTo>
                <a:lnTo>
                  <a:pt x="6151581"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51656" y="-239763"/>
            <a:ext cx="4013896" cy="2106909"/>
            <a:chOff x="0" y="0"/>
            <a:chExt cx="1122609" cy="589261"/>
          </a:xfrm>
        </p:grpSpPr>
        <p:sp>
          <p:nvSpPr>
            <p:cNvPr name="Freeform 6" id="6"/>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7" id="7"/>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8" id="8"/>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9" id="9"/>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0" id="10"/>
          <p:cNvGrpSpPr/>
          <p:nvPr/>
        </p:nvGrpSpPr>
        <p:grpSpPr>
          <a:xfrm rot="0">
            <a:off x="8665593" y="9258300"/>
            <a:ext cx="10174164" cy="5310057"/>
            <a:chOff x="0" y="0"/>
            <a:chExt cx="2679615" cy="1398534"/>
          </a:xfrm>
        </p:grpSpPr>
        <p:sp>
          <p:nvSpPr>
            <p:cNvPr name="Freeform 11" id="11"/>
            <p:cNvSpPr/>
            <p:nvPr/>
          </p:nvSpPr>
          <p:spPr>
            <a:xfrm flipH="false" flipV="false" rot="0">
              <a:off x="0" y="0"/>
              <a:ext cx="2679615" cy="1398534"/>
            </a:xfrm>
            <a:custGeom>
              <a:avLst/>
              <a:gdLst/>
              <a:ahLst/>
              <a:cxnLst/>
              <a:rect r="r" b="b" t="t" l="l"/>
              <a:pathLst>
                <a:path h="1398534" w="2679615">
                  <a:moveTo>
                    <a:pt x="73050" y="0"/>
                  </a:moveTo>
                  <a:lnTo>
                    <a:pt x="2606565" y="0"/>
                  </a:lnTo>
                  <a:cubicBezTo>
                    <a:pt x="2625939" y="0"/>
                    <a:pt x="2644520" y="7696"/>
                    <a:pt x="2658219" y="21396"/>
                  </a:cubicBezTo>
                  <a:cubicBezTo>
                    <a:pt x="2671919" y="35095"/>
                    <a:pt x="2679615" y="53676"/>
                    <a:pt x="2679615" y="73050"/>
                  </a:cubicBezTo>
                  <a:lnTo>
                    <a:pt x="2679615" y="1325483"/>
                  </a:lnTo>
                  <a:cubicBezTo>
                    <a:pt x="2679615" y="1344858"/>
                    <a:pt x="2671919" y="1363438"/>
                    <a:pt x="2658219" y="1377138"/>
                  </a:cubicBezTo>
                  <a:cubicBezTo>
                    <a:pt x="2644520" y="1390837"/>
                    <a:pt x="2625939" y="1398534"/>
                    <a:pt x="2606565" y="1398534"/>
                  </a:cubicBezTo>
                  <a:lnTo>
                    <a:pt x="73050" y="1398534"/>
                  </a:lnTo>
                  <a:cubicBezTo>
                    <a:pt x="53676" y="1398534"/>
                    <a:pt x="35095" y="1390837"/>
                    <a:pt x="21396" y="1377138"/>
                  </a:cubicBezTo>
                  <a:cubicBezTo>
                    <a:pt x="7696" y="1363438"/>
                    <a:pt x="0" y="1344858"/>
                    <a:pt x="0" y="1325483"/>
                  </a:cubicBezTo>
                  <a:lnTo>
                    <a:pt x="0" y="73050"/>
                  </a:lnTo>
                  <a:cubicBezTo>
                    <a:pt x="0" y="53676"/>
                    <a:pt x="7696" y="35095"/>
                    <a:pt x="21396" y="21396"/>
                  </a:cubicBezTo>
                  <a:cubicBezTo>
                    <a:pt x="35095" y="7696"/>
                    <a:pt x="53676" y="0"/>
                    <a:pt x="73050" y="0"/>
                  </a:cubicBezTo>
                  <a:close/>
                </a:path>
              </a:pathLst>
            </a:custGeom>
            <a:solidFill>
              <a:srgbClr val="04458F"/>
            </a:solidFill>
          </p:spPr>
        </p:sp>
        <p:sp>
          <p:nvSpPr>
            <p:cNvPr name="TextBox 12" id="12"/>
            <p:cNvSpPr txBox="true"/>
            <p:nvPr/>
          </p:nvSpPr>
          <p:spPr>
            <a:xfrm>
              <a:off x="0" y="19050"/>
              <a:ext cx="2679615" cy="1379484"/>
            </a:xfrm>
            <a:prstGeom prst="rect">
              <a:avLst/>
            </a:prstGeom>
          </p:spPr>
          <p:txBody>
            <a:bodyPr anchor="ctr" rtlCol="false" tIns="50800" lIns="50800" bIns="50800" rIns="50800"/>
            <a:lstStyle/>
            <a:p>
              <a:pPr algn="ctr">
                <a:lnSpc>
                  <a:spcPts val="2251"/>
                </a:lnSpc>
              </a:pPr>
            </a:p>
          </p:txBody>
        </p:sp>
      </p:grpSp>
      <p:grpSp>
        <p:nvGrpSpPr>
          <p:cNvPr name="Group 13" id="13"/>
          <p:cNvGrpSpPr/>
          <p:nvPr/>
        </p:nvGrpSpPr>
        <p:grpSpPr>
          <a:xfrm rot="0">
            <a:off x="7658395" y="9816549"/>
            <a:ext cx="10629605" cy="5310057"/>
            <a:chOff x="0" y="0"/>
            <a:chExt cx="2799567" cy="1398534"/>
          </a:xfrm>
        </p:grpSpPr>
        <p:sp>
          <p:nvSpPr>
            <p:cNvPr name="Freeform 14" id="14"/>
            <p:cNvSpPr/>
            <p:nvPr/>
          </p:nvSpPr>
          <p:spPr>
            <a:xfrm flipH="false" flipV="false" rot="0">
              <a:off x="0" y="0"/>
              <a:ext cx="2799567" cy="1398534"/>
            </a:xfrm>
            <a:custGeom>
              <a:avLst/>
              <a:gdLst/>
              <a:ahLst/>
              <a:cxnLst/>
              <a:rect r="r" b="b" t="t" l="l"/>
              <a:pathLst>
                <a:path h="1398534" w="2799567">
                  <a:moveTo>
                    <a:pt x="69920" y="0"/>
                  </a:moveTo>
                  <a:lnTo>
                    <a:pt x="2729647" y="0"/>
                  </a:lnTo>
                  <a:cubicBezTo>
                    <a:pt x="2768262" y="0"/>
                    <a:pt x="2799567" y="31304"/>
                    <a:pt x="2799567" y="69920"/>
                  </a:cubicBezTo>
                  <a:lnTo>
                    <a:pt x="2799567" y="1328613"/>
                  </a:lnTo>
                  <a:cubicBezTo>
                    <a:pt x="2799567" y="1347157"/>
                    <a:pt x="2792200" y="1364942"/>
                    <a:pt x="2779088" y="1378054"/>
                  </a:cubicBezTo>
                  <a:cubicBezTo>
                    <a:pt x="2765975" y="1391167"/>
                    <a:pt x="2748191" y="1398534"/>
                    <a:pt x="2729647" y="1398534"/>
                  </a:cubicBezTo>
                  <a:lnTo>
                    <a:pt x="69920" y="1398534"/>
                  </a:lnTo>
                  <a:cubicBezTo>
                    <a:pt x="31304" y="1398534"/>
                    <a:pt x="0" y="1367229"/>
                    <a:pt x="0" y="1328613"/>
                  </a:cubicBezTo>
                  <a:lnTo>
                    <a:pt x="0" y="69920"/>
                  </a:lnTo>
                  <a:cubicBezTo>
                    <a:pt x="0" y="51376"/>
                    <a:pt x="7367" y="33592"/>
                    <a:pt x="20479" y="20479"/>
                  </a:cubicBezTo>
                  <a:cubicBezTo>
                    <a:pt x="33592" y="7367"/>
                    <a:pt x="51376" y="0"/>
                    <a:pt x="69920" y="0"/>
                  </a:cubicBezTo>
                  <a:close/>
                </a:path>
              </a:pathLst>
            </a:custGeom>
            <a:solidFill>
              <a:srgbClr val="3E426F"/>
            </a:solidFill>
          </p:spPr>
        </p:sp>
        <p:sp>
          <p:nvSpPr>
            <p:cNvPr name="TextBox 15" id="15"/>
            <p:cNvSpPr txBox="true"/>
            <p:nvPr/>
          </p:nvSpPr>
          <p:spPr>
            <a:xfrm>
              <a:off x="0" y="19050"/>
              <a:ext cx="2799567" cy="1379484"/>
            </a:xfrm>
            <a:prstGeom prst="rect">
              <a:avLst/>
            </a:prstGeom>
          </p:spPr>
          <p:txBody>
            <a:bodyPr anchor="ctr" rtlCol="false" tIns="50800" lIns="50800" bIns="50800" rIns="50800"/>
            <a:lstStyle/>
            <a:p>
              <a:pPr algn="ctr">
                <a:lnSpc>
                  <a:spcPts val="2251"/>
                </a:lnSpc>
              </a:pPr>
            </a:p>
          </p:txBody>
        </p:sp>
      </p:grpSp>
      <p:sp>
        <p:nvSpPr>
          <p:cNvPr name="Freeform 16" id="16"/>
          <p:cNvSpPr/>
          <p:nvPr/>
        </p:nvSpPr>
        <p:spPr>
          <a:xfrm flipH="false" flipV="false" rot="0">
            <a:off x="0" y="1867146"/>
            <a:ext cx="17917949" cy="7391154"/>
          </a:xfrm>
          <a:custGeom>
            <a:avLst/>
            <a:gdLst/>
            <a:ahLst/>
            <a:cxnLst/>
            <a:rect r="r" b="b" t="t" l="l"/>
            <a:pathLst>
              <a:path h="7391154" w="17917949">
                <a:moveTo>
                  <a:pt x="0" y="0"/>
                </a:moveTo>
                <a:lnTo>
                  <a:pt x="17917949" y="0"/>
                </a:lnTo>
                <a:lnTo>
                  <a:pt x="17917949" y="7391154"/>
                </a:lnTo>
                <a:lnTo>
                  <a:pt x="0" y="7391154"/>
                </a:lnTo>
                <a:lnTo>
                  <a:pt x="0" y="0"/>
                </a:lnTo>
                <a:close/>
              </a:path>
            </a:pathLst>
          </a:custGeom>
          <a:blipFill>
            <a:blip r:embed="rId7"/>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763967" y="-3075790"/>
            <a:ext cx="6151581" cy="6151581"/>
          </a:xfrm>
          <a:custGeom>
            <a:avLst/>
            <a:gdLst/>
            <a:ahLst/>
            <a:cxnLst/>
            <a:rect r="r" b="b" t="t" l="l"/>
            <a:pathLst>
              <a:path h="6151581" w="6151581">
                <a:moveTo>
                  <a:pt x="0" y="0"/>
                </a:moveTo>
                <a:lnTo>
                  <a:pt x="6151581" y="0"/>
                </a:lnTo>
                <a:lnTo>
                  <a:pt x="6151581"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51656" y="-239763"/>
            <a:ext cx="4013896" cy="2106909"/>
            <a:chOff x="0" y="0"/>
            <a:chExt cx="1122609" cy="589261"/>
          </a:xfrm>
        </p:grpSpPr>
        <p:sp>
          <p:nvSpPr>
            <p:cNvPr name="Freeform 6" id="6"/>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7" id="7"/>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8" id="8"/>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9" id="9"/>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0" id="10"/>
          <p:cNvGrpSpPr/>
          <p:nvPr/>
        </p:nvGrpSpPr>
        <p:grpSpPr>
          <a:xfrm rot="0">
            <a:off x="8665593" y="9258300"/>
            <a:ext cx="10174164" cy="5310057"/>
            <a:chOff x="0" y="0"/>
            <a:chExt cx="2679615" cy="1398534"/>
          </a:xfrm>
        </p:grpSpPr>
        <p:sp>
          <p:nvSpPr>
            <p:cNvPr name="Freeform 11" id="11"/>
            <p:cNvSpPr/>
            <p:nvPr/>
          </p:nvSpPr>
          <p:spPr>
            <a:xfrm flipH="false" flipV="false" rot="0">
              <a:off x="0" y="0"/>
              <a:ext cx="2679615" cy="1398534"/>
            </a:xfrm>
            <a:custGeom>
              <a:avLst/>
              <a:gdLst/>
              <a:ahLst/>
              <a:cxnLst/>
              <a:rect r="r" b="b" t="t" l="l"/>
              <a:pathLst>
                <a:path h="1398534" w="2679615">
                  <a:moveTo>
                    <a:pt x="73050" y="0"/>
                  </a:moveTo>
                  <a:lnTo>
                    <a:pt x="2606565" y="0"/>
                  </a:lnTo>
                  <a:cubicBezTo>
                    <a:pt x="2625939" y="0"/>
                    <a:pt x="2644520" y="7696"/>
                    <a:pt x="2658219" y="21396"/>
                  </a:cubicBezTo>
                  <a:cubicBezTo>
                    <a:pt x="2671919" y="35095"/>
                    <a:pt x="2679615" y="53676"/>
                    <a:pt x="2679615" y="73050"/>
                  </a:cubicBezTo>
                  <a:lnTo>
                    <a:pt x="2679615" y="1325483"/>
                  </a:lnTo>
                  <a:cubicBezTo>
                    <a:pt x="2679615" y="1344858"/>
                    <a:pt x="2671919" y="1363438"/>
                    <a:pt x="2658219" y="1377138"/>
                  </a:cubicBezTo>
                  <a:cubicBezTo>
                    <a:pt x="2644520" y="1390837"/>
                    <a:pt x="2625939" y="1398534"/>
                    <a:pt x="2606565" y="1398534"/>
                  </a:cubicBezTo>
                  <a:lnTo>
                    <a:pt x="73050" y="1398534"/>
                  </a:lnTo>
                  <a:cubicBezTo>
                    <a:pt x="53676" y="1398534"/>
                    <a:pt x="35095" y="1390837"/>
                    <a:pt x="21396" y="1377138"/>
                  </a:cubicBezTo>
                  <a:cubicBezTo>
                    <a:pt x="7696" y="1363438"/>
                    <a:pt x="0" y="1344858"/>
                    <a:pt x="0" y="1325483"/>
                  </a:cubicBezTo>
                  <a:lnTo>
                    <a:pt x="0" y="73050"/>
                  </a:lnTo>
                  <a:cubicBezTo>
                    <a:pt x="0" y="53676"/>
                    <a:pt x="7696" y="35095"/>
                    <a:pt x="21396" y="21396"/>
                  </a:cubicBezTo>
                  <a:cubicBezTo>
                    <a:pt x="35095" y="7696"/>
                    <a:pt x="53676" y="0"/>
                    <a:pt x="73050" y="0"/>
                  </a:cubicBezTo>
                  <a:close/>
                </a:path>
              </a:pathLst>
            </a:custGeom>
            <a:solidFill>
              <a:srgbClr val="04458F"/>
            </a:solidFill>
          </p:spPr>
        </p:sp>
        <p:sp>
          <p:nvSpPr>
            <p:cNvPr name="TextBox 12" id="12"/>
            <p:cNvSpPr txBox="true"/>
            <p:nvPr/>
          </p:nvSpPr>
          <p:spPr>
            <a:xfrm>
              <a:off x="0" y="19050"/>
              <a:ext cx="2679615" cy="1379484"/>
            </a:xfrm>
            <a:prstGeom prst="rect">
              <a:avLst/>
            </a:prstGeom>
          </p:spPr>
          <p:txBody>
            <a:bodyPr anchor="ctr" rtlCol="false" tIns="50800" lIns="50800" bIns="50800" rIns="50800"/>
            <a:lstStyle/>
            <a:p>
              <a:pPr algn="ctr">
                <a:lnSpc>
                  <a:spcPts val="2251"/>
                </a:lnSpc>
              </a:pPr>
            </a:p>
          </p:txBody>
        </p:sp>
      </p:grpSp>
      <p:grpSp>
        <p:nvGrpSpPr>
          <p:cNvPr name="Group 13" id="13"/>
          <p:cNvGrpSpPr/>
          <p:nvPr/>
        </p:nvGrpSpPr>
        <p:grpSpPr>
          <a:xfrm rot="0">
            <a:off x="7658395" y="9816549"/>
            <a:ext cx="10629605" cy="5310057"/>
            <a:chOff x="0" y="0"/>
            <a:chExt cx="2799567" cy="1398534"/>
          </a:xfrm>
        </p:grpSpPr>
        <p:sp>
          <p:nvSpPr>
            <p:cNvPr name="Freeform 14" id="14"/>
            <p:cNvSpPr/>
            <p:nvPr/>
          </p:nvSpPr>
          <p:spPr>
            <a:xfrm flipH="false" flipV="false" rot="0">
              <a:off x="0" y="0"/>
              <a:ext cx="2799567" cy="1398534"/>
            </a:xfrm>
            <a:custGeom>
              <a:avLst/>
              <a:gdLst/>
              <a:ahLst/>
              <a:cxnLst/>
              <a:rect r="r" b="b" t="t" l="l"/>
              <a:pathLst>
                <a:path h="1398534" w="2799567">
                  <a:moveTo>
                    <a:pt x="69920" y="0"/>
                  </a:moveTo>
                  <a:lnTo>
                    <a:pt x="2729647" y="0"/>
                  </a:lnTo>
                  <a:cubicBezTo>
                    <a:pt x="2768262" y="0"/>
                    <a:pt x="2799567" y="31304"/>
                    <a:pt x="2799567" y="69920"/>
                  </a:cubicBezTo>
                  <a:lnTo>
                    <a:pt x="2799567" y="1328613"/>
                  </a:lnTo>
                  <a:cubicBezTo>
                    <a:pt x="2799567" y="1347157"/>
                    <a:pt x="2792200" y="1364942"/>
                    <a:pt x="2779088" y="1378054"/>
                  </a:cubicBezTo>
                  <a:cubicBezTo>
                    <a:pt x="2765975" y="1391167"/>
                    <a:pt x="2748191" y="1398534"/>
                    <a:pt x="2729647" y="1398534"/>
                  </a:cubicBezTo>
                  <a:lnTo>
                    <a:pt x="69920" y="1398534"/>
                  </a:lnTo>
                  <a:cubicBezTo>
                    <a:pt x="31304" y="1398534"/>
                    <a:pt x="0" y="1367229"/>
                    <a:pt x="0" y="1328613"/>
                  </a:cubicBezTo>
                  <a:lnTo>
                    <a:pt x="0" y="69920"/>
                  </a:lnTo>
                  <a:cubicBezTo>
                    <a:pt x="0" y="51376"/>
                    <a:pt x="7367" y="33592"/>
                    <a:pt x="20479" y="20479"/>
                  </a:cubicBezTo>
                  <a:cubicBezTo>
                    <a:pt x="33592" y="7367"/>
                    <a:pt x="51376" y="0"/>
                    <a:pt x="69920" y="0"/>
                  </a:cubicBezTo>
                  <a:close/>
                </a:path>
              </a:pathLst>
            </a:custGeom>
            <a:solidFill>
              <a:srgbClr val="3E426F"/>
            </a:solidFill>
          </p:spPr>
        </p:sp>
        <p:sp>
          <p:nvSpPr>
            <p:cNvPr name="TextBox 15" id="15"/>
            <p:cNvSpPr txBox="true"/>
            <p:nvPr/>
          </p:nvSpPr>
          <p:spPr>
            <a:xfrm>
              <a:off x="0" y="19050"/>
              <a:ext cx="2799567" cy="1379484"/>
            </a:xfrm>
            <a:prstGeom prst="rect">
              <a:avLst/>
            </a:prstGeom>
          </p:spPr>
          <p:txBody>
            <a:bodyPr anchor="ctr" rtlCol="false" tIns="50800" lIns="50800" bIns="50800" rIns="50800"/>
            <a:lstStyle/>
            <a:p>
              <a:pPr algn="ctr">
                <a:lnSpc>
                  <a:spcPts val="2251"/>
                </a:lnSpc>
              </a:pPr>
            </a:p>
          </p:txBody>
        </p:sp>
      </p:grpSp>
      <p:sp>
        <p:nvSpPr>
          <p:cNvPr name="Freeform 16" id="16"/>
          <p:cNvSpPr/>
          <p:nvPr/>
        </p:nvSpPr>
        <p:spPr>
          <a:xfrm flipH="false" flipV="false" rot="0">
            <a:off x="235976" y="2025399"/>
            <a:ext cx="17324315" cy="7232901"/>
          </a:xfrm>
          <a:custGeom>
            <a:avLst/>
            <a:gdLst/>
            <a:ahLst/>
            <a:cxnLst/>
            <a:rect r="r" b="b" t="t" l="l"/>
            <a:pathLst>
              <a:path h="7232901" w="17324315">
                <a:moveTo>
                  <a:pt x="0" y="0"/>
                </a:moveTo>
                <a:lnTo>
                  <a:pt x="17324314" y="0"/>
                </a:lnTo>
                <a:lnTo>
                  <a:pt x="17324314" y="7232901"/>
                </a:lnTo>
                <a:lnTo>
                  <a:pt x="0" y="7232901"/>
                </a:lnTo>
                <a:lnTo>
                  <a:pt x="0" y="0"/>
                </a:lnTo>
                <a:close/>
              </a:path>
            </a:pathLst>
          </a:custGeom>
          <a:blipFill>
            <a:blip r:embed="rId7"/>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4672601" y="-2563786"/>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89652" y="8782688"/>
            <a:ext cx="6448517" cy="6448517"/>
          </a:xfrm>
          <a:custGeom>
            <a:avLst/>
            <a:gdLst/>
            <a:ahLst/>
            <a:cxnLst/>
            <a:rect r="r" b="b" t="t" l="l"/>
            <a:pathLst>
              <a:path h="6448517" w="6448517">
                <a:moveTo>
                  <a:pt x="0" y="0"/>
                </a:moveTo>
                <a:lnTo>
                  <a:pt x="6448517" y="0"/>
                </a:lnTo>
                <a:lnTo>
                  <a:pt x="6448517"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3736300" y="215824"/>
            <a:ext cx="10505076" cy="3091981"/>
          </a:xfrm>
          <a:custGeom>
            <a:avLst/>
            <a:gdLst/>
            <a:ahLst/>
            <a:cxnLst/>
            <a:rect r="r" b="b" t="t" l="l"/>
            <a:pathLst>
              <a:path h="3091981" w="10505076">
                <a:moveTo>
                  <a:pt x="0" y="0"/>
                </a:moveTo>
                <a:lnTo>
                  <a:pt x="10505076" y="0"/>
                </a:lnTo>
                <a:lnTo>
                  <a:pt x="10505076" y="3091981"/>
                </a:lnTo>
                <a:lnTo>
                  <a:pt x="0" y="3091981"/>
                </a:lnTo>
                <a:lnTo>
                  <a:pt x="0" y="0"/>
                </a:lnTo>
                <a:close/>
              </a:path>
            </a:pathLst>
          </a:custGeom>
          <a:blipFill>
            <a:blip r:embed="rId5"/>
            <a:stretch>
              <a:fillRect l="0" t="0" r="-709" b="0"/>
            </a:stretch>
          </a:blipFill>
        </p:spPr>
      </p:sp>
      <p:sp>
        <p:nvSpPr>
          <p:cNvPr name="Freeform 15" id="15"/>
          <p:cNvSpPr/>
          <p:nvPr/>
        </p:nvSpPr>
        <p:spPr>
          <a:xfrm flipH="false" flipV="false" rot="0">
            <a:off x="3736300" y="6664169"/>
            <a:ext cx="10505076" cy="3151523"/>
          </a:xfrm>
          <a:custGeom>
            <a:avLst/>
            <a:gdLst/>
            <a:ahLst/>
            <a:cxnLst/>
            <a:rect r="r" b="b" t="t" l="l"/>
            <a:pathLst>
              <a:path h="3151523" w="10505076">
                <a:moveTo>
                  <a:pt x="0" y="0"/>
                </a:moveTo>
                <a:lnTo>
                  <a:pt x="10505076" y="0"/>
                </a:lnTo>
                <a:lnTo>
                  <a:pt x="10505076" y="3151522"/>
                </a:lnTo>
                <a:lnTo>
                  <a:pt x="0" y="3151522"/>
                </a:lnTo>
                <a:lnTo>
                  <a:pt x="0" y="0"/>
                </a:lnTo>
                <a:close/>
              </a:path>
            </a:pathLst>
          </a:custGeom>
          <a:blipFill>
            <a:blip r:embed="rId6"/>
            <a:stretch>
              <a:fillRect l="0" t="0" r="0" b="0"/>
            </a:stretch>
          </a:blipFill>
        </p:spPr>
      </p:sp>
      <p:sp>
        <p:nvSpPr>
          <p:cNvPr name="Freeform 16" id="16"/>
          <p:cNvSpPr/>
          <p:nvPr/>
        </p:nvSpPr>
        <p:spPr>
          <a:xfrm flipH="false" flipV="false" rot="0">
            <a:off x="3736300" y="3428215"/>
            <a:ext cx="10505076" cy="3112129"/>
          </a:xfrm>
          <a:custGeom>
            <a:avLst/>
            <a:gdLst/>
            <a:ahLst/>
            <a:cxnLst/>
            <a:rect r="r" b="b" t="t" l="l"/>
            <a:pathLst>
              <a:path h="3112129" w="10505076">
                <a:moveTo>
                  <a:pt x="0" y="0"/>
                </a:moveTo>
                <a:lnTo>
                  <a:pt x="10505076" y="0"/>
                </a:lnTo>
                <a:lnTo>
                  <a:pt x="10505076" y="3112129"/>
                </a:lnTo>
                <a:lnTo>
                  <a:pt x="0" y="3112129"/>
                </a:lnTo>
                <a:lnTo>
                  <a:pt x="0" y="0"/>
                </a:lnTo>
                <a:close/>
              </a:path>
            </a:pathLst>
          </a:custGeom>
          <a:blipFill>
            <a:blip r:embed="rId7"/>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5304490" y="-2324634"/>
            <a:ext cx="5559220" cy="5559220"/>
          </a:xfrm>
          <a:custGeom>
            <a:avLst/>
            <a:gdLst/>
            <a:ahLst/>
            <a:cxnLst/>
            <a:rect r="r" b="b" t="t" l="l"/>
            <a:pathLst>
              <a:path h="5559220" w="5559220">
                <a:moveTo>
                  <a:pt x="0" y="0"/>
                </a:moveTo>
                <a:lnTo>
                  <a:pt x="5559220" y="0"/>
                </a:lnTo>
                <a:lnTo>
                  <a:pt x="5559220"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4035041" y="8510365"/>
            <a:ext cx="6448517" cy="6448517"/>
          </a:xfrm>
          <a:custGeom>
            <a:avLst/>
            <a:gdLst/>
            <a:ahLst/>
            <a:cxnLst/>
            <a:rect r="r" b="b" t="t" l="l"/>
            <a:pathLst>
              <a:path h="6448517" w="6448517">
                <a:moveTo>
                  <a:pt x="0" y="0"/>
                </a:moveTo>
                <a:lnTo>
                  <a:pt x="6448518" y="0"/>
                </a:lnTo>
                <a:lnTo>
                  <a:pt x="6448518"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182428" y="9863219"/>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3935476" y="151378"/>
            <a:ext cx="4687394" cy="4915804"/>
          </a:xfrm>
          <a:custGeom>
            <a:avLst/>
            <a:gdLst/>
            <a:ahLst/>
            <a:cxnLst/>
            <a:rect r="r" b="b" t="t" l="l"/>
            <a:pathLst>
              <a:path h="4915804" w="4687394">
                <a:moveTo>
                  <a:pt x="0" y="0"/>
                </a:moveTo>
                <a:lnTo>
                  <a:pt x="4687395" y="0"/>
                </a:lnTo>
                <a:lnTo>
                  <a:pt x="4687395" y="4915804"/>
                </a:lnTo>
                <a:lnTo>
                  <a:pt x="0" y="4915804"/>
                </a:lnTo>
                <a:lnTo>
                  <a:pt x="0" y="0"/>
                </a:lnTo>
                <a:close/>
              </a:path>
            </a:pathLst>
          </a:custGeom>
          <a:blipFill>
            <a:blip r:embed="rId5"/>
            <a:stretch>
              <a:fillRect l="0" t="0" r="-202881" b="0"/>
            </a:stretch>
          </a:blipFill>
        </p:spPr>
      </p:sp>
      <p:sp>
        <p:nvSpPr>
          <p:cNvPr name="Freeform 15" id="15"/>
          <p:cNvSpPr/>
          <p:nvPr/>
        </p:nvSpPr>
        <p:spPr>
          <a:xfrm flipH="false" flipV="false" rot="0">
            <a:off x="9144000" y="5255791"/>
            <a:ext cx="4694551" cy="4909335"/>
          </a:xfrm>
          <a:custGeom>
            <a:avLst/>
            <a:gdLst/>
            <a:ahLst/>
            <a:cxnLst/>
            <a:rect r="r" b="b" t="t" l="l"/>
            <a:pathLst>
              <a:path h="4909335" w="4694551">
                <a:moveTo>
                  <a:pt x="0" y="0"/>
                </a:moveTo>
                <a:lnTo>
                  <a:pt x="4694551" y="0"/>
                </a:lnTo>
                <a:lnTo>
                  <a:pt x="4694551" y="4909334"/>
                </a:lnTo>
                <a:lnTo>
                  <a:pt x="0" y="4909334"/>
                </a:lnTo>
                <a:lnTo>
                  <a:pt x="0" y="0"/>
                </a:lnTo>
                <a:close/>
              </a:path>
            </a:pathLst>
          </a:custGeom>
          <a:blipFill>
            <a:blip r:embed="rId6"/>
            <a:stretch>
              <a:fillRect l="0" t="0" r="0" b="0"/>
            </a:stretch>
          </a:blipFill>
        </p:spPr>
      </p:sp>
      <p:sp>
        <p:nvSpPr>
          <p:cNvPr name="Freeform 16" id="16"/>
          <p:cNvSpPr/>
          <p:nvPr/>
        </p:nvSpPr>
        <p:spPr>
          <a:xfrm flipH="false" flipV="false" rot="0">
            <a:off x="9144000" y="151378"/>
            <a:ext cx="4521222" cy="4915804"/>
          </a:xfrm>
          <a:custGeom>
            <a:avLst/>
            <a:gdLst/>
            <a:ahLst/>
            <a:cxnLst/>
            <a:rect r="r" b="b" t="t" l="l"/>
            <a:pathLst>
              <a:path h="4915804" w="4521222">
                <a:moveTo>
                  <a:pt x="0" y="0"/>
                </a:moveTo>
                <a:lnTo>
                  <a:pt x="4521222" y="0"/>
                </a:lnTo>
                <a:lnTo>
                  <a:pt x="4521222" y="4915804"/>
                </a:lnTo>
                <a:lnTo>
                  <a:pt x="0" y="4915804"/>
                </a:lnTo>
                <a:lnTo>
                  <a:pt x="0" y="0"/>
                </a:lnTo>
                <a:close/>
              </a:path>
            </a:pathLst>
          </a:custGeom>
          <a:blipFill>
            <a:blip r:embed="rId5"/>
            <a:stretch>
              <a:fillRect l="-106604" t="0" r="-107408" b="0"/>
            </a:stretch>
          </a:blipFill>
        </p:spPr>
      </p:sp>
      <p:sp>
        <p:nvSpPr>
          <p:cNvPr name="Freeform 17" id="17"/>
          <p:cNvSpPr/>
          <p:nvPr/>
        </p:nvSpPr>
        <p:spPr>
          <a:xfrm flipH="false" flipV="false" rot="0">
            <a:off x="3935476" y="5255791"/>
            <a:ext cx="4679024" cy="5031209"/>
          </a:xfrm>
          <a:custGeom>
            <a:avLst/>
            <a:gdLst/>
            <a:ahLst/>
            <a:cxnLst/>
            <a:rect r="r" b="b" t="t" l="l"/>
            <a:pathLst>
              <a:path h="5031209" w="4679024">
                <a:moveTo>
                  <a:pt x="0" y="0"/>
                </a:moveTo>
                <a:lnTo>
                  <a:pt x="4679025" y="0"/>
                </a:lnTo>
                <a:lnTo>
                  <a:pt x="4679025" y="5031209"/>
                </a:lnTo>
                <a:lnTo>
                  <a:pt x="0" y="5031209"/>
                </a:lnTo>
                <a:lnTo>
                  <a:pt x="0" y="0"/>
                </a:lnTo>
                <a:close/>
              </a:path>
            </a:pathLst>
          </a:custGeom>
          <a:blipFill>
            <a:blip r:embed="rId7"/>
            <a:stretch>
              <a:fillRect l="0" t="0" r="0" b="0"/>
            </a:stretch>
          </a:blipFill>
        </p:spPr>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4672601" y="-2563786"/>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89652" y="8782688"/>
            <a:ext cx="6448517" cy="6448517"/>
          </a:xfrm>
          <a:custGeom>
            <a:avLst/>
            <a:gdLst/>
            <a:ahLst/>
            <a:cxnLst/>
            <a:rect r="r" b="b" t="t" l="l"/>
            <a:pathLst>
              <a:path h="6448517" w="6448517">
                <a:moveTo>
                  <a:pt x="0" y="0"/>
                </a:moveTo>
                <a:lnTo>
                  <a:pt x="6448517" y="0"/>
                </a:lnTo>
                <a:lnTo>
                  <a:pt x="6448517"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2956160" y="215824"/>
            <a:ext cx="5699981" cy="4633640"/>
          </a:xfrm>
          <a:custGeom>
            <a:avLst/>
            <a:gdLst/>
            <a:ahLst/>
            <a:cxnLst/>
            <a:rect r="r" b="b" t="t" l="l"/>
            <a:pathLst>
              <a:path h="4633640" w="5699981">
                <a:moveTo>
                  <a:pt x="0" y="0"/>
                </a:moveTo>
                <a:lnTo>
                  <a:pt x="5699981" y="0"/>
                </a:lnTo>
                <a:lnTo>
                  <a:pt x="5699981" y="4633640"/>
                </a:lnTo>
                <a:lnTo>
                  <a:pt x="0" y="4633640"/>
                </a:lnTo>
                <a:lnTo>
                  <a:pt x="0" y="0"/>
                </a:lnTo>
                <a:close/>
              </a:path>
            </a:pathLst>
          </a:custGeom>
          <a:blipFill>
            <a:blip r:embed="rId5"/>
            <a:stretch>
              <a:fillRect l="0" t="-1901" r="0" b="0"/>
            </a:stretch>
          </a:blipFill>
        </p:spPr>
      </p:sp>
      <p:sp>
        <p:nvSpPr>
          <p:cNvPr name="Freeform 15" id="15"/>
          <p:cNvSpPr/>
          <p:nvPr/>
        </p:nvSpPr>
        <p:spPr>
          <a:xfrm flipH="false" flipV="false" rot="0">
            <a:off x="9388316" y="5143500"/>
            <a:ext cx="5492144" cy="4774529"/>
          </a:xfrm>
          <a:custGeom>
            <a:avLst/>
            <a:gdLst/>
            <a:ahLst/>
            <a:cxnLst/>
            <a:rect r="r" b="b" t="t" l="l"/>
            <a:pathLst>
              <a:path h="4774529" w="5492144">
                <a:moveTo>
                  <a:pt x="0" y="0"/>
                </a:moveTo>
                <a:lnTo>
                  <a:pt x="5492143" y="0"/>
                </a:lnTo>
                <a:lnTo>
                  <a:pt x="5492143" y="4774529"/>
                </a:lnTo>
                <a:lnTo>
                  <a:pt x="0" y="4774529"/>
                </a:lnTo>
                <a:lnTo>
                  <a:pt x="0" y="0"/>
                </a:lnTo>
                <a:close/>
              </a:path>
            </a:pathLst>
          </a:custGeom>
          <a:blipFill>
            <a:blip r:embed="rId6"/>
            <a:stretch>
              <a:fillRect l="0" t="0" r="0" b="0"/>
            </a:stretch>
          </a:blipFill>
        </p:spPr>
      </p:sp>
      <p:sp>
        <p:nvSpPr>
          <p:cNvPr name="Freeform 16" id="16"/>
          <p:cNvSpPr/>
          <p:nvPr/>
        </p:nvSpPr>
        <p:spPr>
          <a:xfrm flipH="false" flipV="false" rot="0">
            <a:off x="2956160" y="5143500"/>
            <a:ext cx="5606526" cy="4774529"/>
          </a:xfrm>
          <a:custGeom>
            <a:avLst/>
            <a:gdLst/>
            <a:ahLst/>
            <a:cxnLst/>
            <a:rect r="r" b="b" t="t" l="l"/>
            <a:pathLst>
              <a:path h="4774529" w="5606526">
                <a:moveTo>
                  <a:pt x="0" y="0"/>
                </a:moveTo>
                <a:lnTo>
                  <a:pt x="5606526" y="0"/>
                </a:lnTo>
                <a:lnTo>
                  <a:pt x="5606526" y="4774529"/>
                </a:lnTo>
                <a:lnTo>
                  <a:pt x="0" y="4774529"/>
                </a:lnTo>
                <a:lnTo>
                  <a:pt x="0" y="0"/>
                </a:lnTo>
                <a:close/>
              </a:path>
            </a:pathLst>
          </a:custGeom>
          <a:blipFill>
            <a:blip r:embed="rId7"/>
            <a:stretch>
              <a:fillRect l="0" t="0" r="0" b="0"/>
            </a:stretch>
          </a:blipFill>
        </p:spPr>
      </p:sp>
      <p:sp>
        <p:nvSpPr>
          <p:cNvPr name="Freeform 17" id="17"/>
          <p:cNvSpPr/>
          <p:nvPr/>
        </p:nvSpPr>
        <p:spPr>
          <a:xfrm flipH="false" flipV="false" rot="0">
            <a:off x="9388316" y="242654"/>
            <a:ext cx="5370014" cy="4606810"/>
          </a:xfrm>
          <a:custGeom>
            <a:avLst/>
            <a:gdLst/>
            <a:ahLst/>
            <a:cxnLst/>
            <a:rect r="r" b="b" t="t" l="l"/>
            <a:pathLst>
              <a:path h="4606810" w="5370014">
                <a:moveTo>
                  <a:pt x="0" y="0"/>
                </a:moveTo>
                <a:lnTo>
                  <a:pt x="5370013" y="0"/>
                </a:lnTo>
                <a:lnTo>
                  <a:pt x="5370013" y="4606810"/>
                </a:lnTo>
                <a:lnTo>
                  <a:pt x="0" y="4606810"/>
                </a:lnTo>
                <a:lnTo>
                  <a:pt x="0" y="0"/>
                </a:lnTo>
                <a:close/>
              </a:path>
            </a:pathLst>
          </a:custGeom>
          <a:blipFill>
            <a:blip r:embed="rId8"/>
            <a:stretch>
              <a:fillRect l="0" t="0" r="0" b="0"/>
            </a:stretch>
          </a:blipFill>
        </p:spPr>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4672601" y="-2563786"/>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89652" y="8782688"/>
            <a:ext cx="6448517" cy="6448517"/>
          </a:xfrm>
          <a:custGeom>
            <a:avLst/>
            <a:gdLst/>
            <a:ahLst/>
            <a:cxnLst/>
            <a:rect r="r" b="b" t="t" l="l"/>
            <a:pathLst>
              <a:path h="6448517" w="6448517">
                <a:moveTo>
                  <a:pt x="0" y="0"/>
                </a:moveTo>
                <a:lnTo>
                  <a:pt x="6448517" y="0"/>
                </a:lnTo>
                <a:lnTo>
                  <a:pt x="6448517"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1714154" y="215824"/>
            <a:ext cx="10790044" cy="9535701"/>
          </a:xfrm>
          <a:custGeom>
            <a:avLst/>
            <a:gdLst/>
            <a:ahLst/>
            <a:cxnLst/>
            <a:rect r="r" b="b" t="t" l="l"/>
            <a:pathLst>
              <a:path h="9535701" w="10790044">
                <a:moveTo>
                  <a:pt x="0" y="0"/>
                </a:moveTo>
                <a:lnTo>
                  <a:pt x="10790044" y="0"/>
                </a:lnTo>
                <a:lnTo>
                  <a:pt x="10790044" y="9535701"/>
                </a:lnTo>
                <a:lnTo>
                  <a:pt x="0" y="9535701"/>
                </a:lnTo>
                <a:lnTo>
                  <a:pt x="0" y="0"/>
                </a:lnTo>
                <a:close/>
              </a:path>
            </a:pathLst>
          </a:custGeom>
          <a:blipFill>
            <a:blip r:embed="rId5"/>
            <a:stretch>
              <a:fillRect l="0" t="0" r="0" b="0"/>
            </a:stretch>
          </a:blipFill>
        </p:spPr>
      </p:sp>
      <p:sp>
        <p:nvSpPr>
          <p:cNvPr name="Freeform 15" id="15"/>
          <p:cNvSpPr/>
          <p:nvPr/>
        </p:nvSpPr>
        <p:spPr>
          <a:xfrm flipH="false" flipV="false" rot="0">
            <a:off x="12658767" y="1605238"/>
            <a:ext cx="5543508" cy="3963608"/>
          </a:xfrm>
          <a:custGeom>
            <a:avLst/>
            <a:gdLst/>
            <a:ahLst/>
            <a:cxnLst/>
            <a:rect r="r" b="b" t="t" l="l"/>
            <a:pathLst>
              <a:path h="3963608" w="5543508">
                <a:moveTo>
                  <a:pt x="0" y="0"/>
                </a:moveTo>
                <a:lnTo>
                  <a:pt x="5543508" y="0"/>
                </a:lnTo>
                <a:lnTo>
                  <a:pt x="5543508" y="3963608"/>
                </a:lnTo>
                <a:lnTo>
                  <a:pt x="0" y="3963608"/>
                </a:lnTo>
                <a:lnTo>
                  <a:pt x="0" y="0"/>
                </a:lnTo>
                <a:close/>
              </a:path>
            </a:pathLst>
          </a:custGeom>
          <a:blipFill>
            <a:blip r:embed="rId6"/>
            <a:stretch>
              <a:fillRect l="0" t="0" r="0" b="0"/>
            </a:stretch>
          </a:blipFill>
        </p:spPr>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4672601" y="-2563786"/>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89652" y="8782688"/>
            <a:ext cx="6448517" cy="6448517"/>
          </a:xfrm>
          <a:custGeom>
            <a:avLst/>
            <a:gdLst/>
            <a:ahLst/>
            <a:cxnLst/>
            <a:rect r="r" b="b" t="t" l="l"/>
            <a:pathLst>
              <a:path h="6448517" w="6448517">
                <a:moveTo>
                  <a:pt x="0" y="0"/>
                </a:moveTo>
                <a:lnTo>
                  <a:pt x="6448517" y="0"/>
                </a:lnTo>
                <a:lnTo>
                  <a:pt x="6448517"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Freeform 14" id="14"/>
          <p:cNvSpPr/>
          <p:nvPr/>
        </p:nvSpPr>
        <p:spPr>
          <a:xfrm flipH="false" flipV="false" rot="0">
            <a:off x="2983099" y="619609"/>
            <a:ext cx="12321802" cy="7177450"/>
          </a:xfrm>
          <a:custGeom>
            <a:avLst/>
            <a:gdLst/>
            <a:ahLst/>
            <a:cxnLst/>
            <a:rect r="r" b="b" t="t" l="l"/>
            <a:pathLst>
              <a:path h="7177450" w="12321802">
                <a:moveTo>
                  <a:pt x="0" y="0"/>
                </a:moveTo>
                <a:lnTo>
                  <a:pt x="12321802" y="0"/>
                </a:lnTo>
                <a:lnTo>
                  <a:pt x="12321802" y="7177450"/>
                </a:lnTo>
                <a:lnTo>
                  <a:pt x="0" y="7177450"/>
                </a:lnTo>
                <a:lnTo>
                  <a:pt x="0" y="0"/>
                </a:lnTo>
                <a:close/>
              </a:path>
            </a:pathLst>
          </a:custGeom>
          <a:blipFill>
            <a:blip r:embed="rId5"/>
            <a:stretch>
              <a:fillRect l="0" t="0" r="0" b="0"/>
            </a:stretch>
          </a:blipFill>
        </p:spPr>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4672601" y="-2563786"/>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89652" y="8782688"/>
            <a:ext cx="6448517" cy="6448517"/>
          </a:xfrm>
          <a:custGeom>
            <a:avLst/>
            <a:gdLst/>
            <a:ahLst/>
            <a:cxnLst/>
            <a:rect r="r" b="b" t="t" l="l"/>
            <a:pathLst>
              <a:path h="6448517" w="6448517">
                <a:moveTo>
                  <a:pt x="0" y="0"/>
                </a:moveTo>
                <a:lnTo>
                  <a:pt x="6448517" y="0"/>
                </a:lnTo>
                <a:lnTo>
                  <a:pt x="6448517"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TextBox 14" id="14"/>
          <p:cNvSpPr txBox="true"/>
          <p:nvPr/>
        </p:nvSpPr>
        <p:spPr>
          <a:xfrm rot="0">
            <a:off x="1971189" y="1047750"/>
            <a:ext cx="3996116" cy="477601"/>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Kesimpulan</a:t>
            </a:r>
          </a:p>
        </p:txBody>
      </p:sp>
      <p:sp>
        <p:nvSpPr>
          <p:cNvPr name="TextBox 15" id="15"/>
          <p:cNvSpPr txBox="true"/>
          <p:nvPr/>
        </p:nvSpPr>
        <p:spPr>
          <a:xfrm rot="0">
            <a:off x="1971189" y="2306103"/>
            <a:ext cx="13105753" cy="928483"/>
          </a:xfrm>
          <a:prstGeom prst="rect">
            <a:avLst/>
          </a:prstGeom>
        </p:spPr>
        <p:txBody>
          <a:bodyPr anchor="t" rtlCol="false" tIns="0" lIns="0" bIns="0" rIns="0">
            <a:spAutoFit/>
          </a:bodyPr>
          <a:lstStyle/>
          <a:p>
            <a:pPr algn="l">
              <a:lnSpc>
                <a:spcPts val="3652"/>
              </a:lnSpc>
              <a:spcBef>
                <a:spcPct val="0"/>
              </a:spcBef>
            </a:pPr>
            <a:r>
              <a:rPr lang="en-US" sz="3261">
                <a:solidFill>
                  <a:srgbClr val="000000"/>
                </a:solidFill>
                <a:latin typeface="Open Sauce"/>
                <a:ea typeface="Open Sauce"/>
                <a:cs typeface="Open Sauce"/>
                <a:sym typeface="Open Sauce"/>
              </a:rPr>
              <a:t>Tren Kriminalitas Meningkat: Meskipun kesejahteraan membaik, Jumlah Tindak Pidana (Y) justru mengalami peningkatan tren.</a:t>
            </a:r>
          </a:p>
        </p:txBody>
      </p:sp>
      <p:sp>
        <p:nvSpPr>
          <p:cNvPr name="TextBox 16" id="16"/>
          <p:cNvSpPr txBox="true"/>
          <p:nvPr/>
        </p:nvSpPr>
        <p:spPr>
          <a:xfrm rot="0">
            <a:off x="1971189" y="3613102"/>
            <a:ext cx="13105753" cy="1385683"/>
          </a:xfrm>
          <a:prstGeom prst="rect">
            <a:avLst/>
          </a:prstGeom>
        </p:spPr>
        <p:txBody>
          <a:bodyPr anchor="t" rtlCol="false" tIns="0" lIns="0" bIns="0" rIns="0">
            <a:spAutoFit/>
          </a:bodyPr>
          <a:lstStyle/>
          <a:p>
            <a:pPr algn="l">
              <a:lnSpc>
                <a:spcPts val="3652"/>
              </a:lnSpc>
              <a:spcBef>
                <a:spcPct val="0"/>
              </a:spcBef>
            </a:pPr>
            <a:r>
              <a:rPr lang="en-US" sz="3261">
                <a:solidFill>
                  <a:srgbClr val="000000"/>
                </a:solidFill>
                <a:latin typeface="Open Sauce"/>
                <a:ea typeface="Open Sauce"/>
                <a:cs typeface="Open Sauce"/>
                <a:sym typeface="Open Sauce"/>
              </a:rPr>
              <a:t>Akan tetapi jika berpatok pada  korelasi, maka hanya jumlah penduduk miskin yang berkorelasi negatif dengan jumlah tindak pidana</a:t>
            </a:r>
          </a:p>
        </p:txBody>
      </p:sp>
      <p:sp>
        <p:nvSpPr>
          <p:cNvPr name="TextBox 17" id="17"/>
          <p:cNvSpPr txBox="true"/>
          <p:nvPr/>
        </p:nvSpPr>
        <p:spPr>
          <a:xfrm rot="0">
            <a:off x="1971189" y="5379785"/>
            <a:ext cx="13105753" cy="928483"/>
          </a:xfrm>
          <a:prstGeom prst="rect">
            <a:avLst/>
          </a:prstGeom>
        </p:spPr>
        <p:txBody>
          <a:bodyPr anchor="t" rtlCol="false" tIns="0" lIns="0" bIns="0" rIns="0">
            <a:spAutoFit/>
          </a:bodyPr>
          <a:lstStyle/>
          <a:p>
            <a:pPr algn="l">
              <a:lnSpc>
                <a:spcPts val="3652"/>
              </a:lnSpc>
              <a:spcBef>
                <a:spcPct val="0"/>
              </a:spcBef>
            </a:pPr>
            <a:r>
              <a:rPr lang="en-US" sz="3261">
                <a:solidFill>
                  <a:srgbClr val="000000"/>
                </a:solidFill>
                <a:latin typeface="Open Sauce"/>
                <a:ea typeface="Open Sauce"/>
                <a:cs typeface="Open Sauce"/>
                <a:sym typeface="Open Sauce"/>
              </a:rPr>
              <a:t>faktor yang paling berpengaruh terhadap jumlah tindak pidana adalah IPM karena memiliki korelasi yang paling tinggi </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4672601" y="-2563786"/>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89652" y="8782688"/>
            <a:ext cx="6448517" cy="6448517"/>
          </a:xfrm>
          <a:custGeom>
            <a:avLst/>
            <a:gdLst/>
            <a:ahLst/>
            <a:cxnLst/>
            <a:rect r="r" b="b" t="t" l="l"/>
            <a:pathLst>
              <a:path h="6448517" w="6448517">
                <a:moveTo>
                  <a:pt x="0" y="0"/>
                </a:moveTo>
                <a:lnTo>
                  <a:pt x="6448517" y="0"/>
                </a:lnTo>
                <a:lnTo>
                  <a:pt x="6448517"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TextBox 14" id="14"/>
          <p:cNvSpPr txBox="true"/>
          <p:nvPr/>
        </p:nvSpPr>
        <p:spPr>
          <a:xfrm rot="0">
            <a:off x="1824593" y="2278277"/>
            <a:ext cx="3996116" cy="477601"/>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Analisis kendala</a:t>
            </a:r>
          </a:p>
        </p:txBody>
      </p:sp>
      <p:sp>
        <p:nvSpPr>
          <p:cNvPr name="TextBox 15" id="15"/>
          <p:cNvSpPr txBox="true"/>
          <p:nvPr/>
        </p:nvSpPr>
        <p:spPr>
          <a:xfrm rot="0">
            <a:off x="2198826" y="3014484"/>
            <a:ext cx="15060474" cy="1385683"/>
          </a:xfrm>
          <a:prstGeom prst="rect">
            <a:avLst/>
          </a:prstGeom>
        </p:spPr>
        <p:txBody>
          <a:bodyPr anchor="t" rtlCol="false" tIns="0" lIns="0" bIns="0" rIns="0">
            <a:spAutoFit/>
          </a:bodyPr>
          <a:lstStyle/>
          <a:p>
            <a:pPr algn="just" marL="704071" indent="-352035" lvl="1">
              <a:lnSpc>
                <a:spcPts val="3652"/>
              </a:lnSpc>
              <a:buAutoNum type="arabicPeriod" startAt="1"/>
            </a:pPr>
            <a:r>
              <a:rPr lang="en-US" sz="3261">
                <a:solidFill>
                  <a:srgbClr val="000000"/>
                </a:solidFill>
                <a:latin typeface="Open Sauce"/>
                <a:ea typeface="Open Sauce"/>
                <a:cs typeface="Open Sauce"/>
                <a:sym typeface="Open Sauce"/>
              </a:rPr>
              <a:t>Sulitnya mencari sumber data dengan rentan waktu diluar 2021-2023</a:t>
            </a:r>
          </a:p>
          <a:p>
            <a:pPr algn="just" marL="704071" indent="-352035" lvl="1">
              <a:lnSpc>
                <a:spcPts val="3652"/>
              </a:lnSpc>
              <a:buAutoNum type="arabicPeriod" startAt="1"/>
            </a:pPr>
            <a:r>
              <a:rPr lang="en-US" sz="3261">
                <a:solidFill>
                  <a:srgbClr val="000000"/>
                </a:solidFill>
                <a:latin typeface="Open Sauce"/>
                <a:ea typeface="Open Sauce"/>
                <a:cs typeface="Open Sauce"/>
                <a:sym typeface="Open Sauce"/>
              </a:rPr>
              <a:t>Kesulitan dalam ekstraksi PDF</a:t>
            </a:r>
          </a:p>
          <a:p>
            <a:pPr algn="just" marL="704071" indent="-352035" lvl="1">
              <a:lnSpc>
                <a:spcPts val="3652"/>
              </a:lnSpc>
              <a:spcBef>
                <a:spcPct val="0"/>
              </a:spcBef>
              <a:buAutoNum type="arabicPeriod" startAt="1"/>
            </a:pPr>
            <a:r>
              <a:rPr lang="en-US" sz="3261">
                <a:solidFill>
                  <a:srgbClr val="000000"/>
                </a:solidFill>
                <a:latin typeface="Open Sauce"/>
                <a:ea typeface="Open Sauce"/>
                <a:cs typeface="Open Sauce"/>
                <a:sym typeface="Open Sauce"/>
              </a:rPr>
              <a:t>Visualisasi yang Bertumpuk</a:t>
            </a:r>
          </a:p>
        </p:txBody>
      </p:sp>
      <p:sp>
        <p:nvSpPr>
          <p:cNvPr name="TextBox 16" id="16"/>
          <p:cNvSpPr txBox="true"/>
          <p:nvPr/>
        </p:nvSpPr>
        <p:spPr>
          <a:xfrm rot="0">
            <a:off x="1824593" y="5804566"/>
            <a:ext cx="4441101" cy="477601"/>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 Rencana tindak lanjut</a:t>
            </a:r>
          </a:p>
        </p:txBody>
      </p:sp>
      <p:sp>
        <p:nvSpPr>
          <p:cNvPr name="TextBox 17" id="17"/>
          <p:cNvSpPr txBox="true"/>
          <p:nvPr/>
        </p:nvSpPr>
        <p:spPr>
          <a:xfrm rot="0">
            <a:off x="2198826" y="6569779"/>
            <a:ext cx="13900414" cy="1385683"/>
          </a:xfrm>
          <a:prstGeom prst="rect">
            <a:avLst/>
          </a:prstGeom>
        </p:spPr>
        <p:txBody>
          <a:bodyPr anchor="t" rtlCol="false" tIns="0" lIns="0" bIns="0" rIns="0">
            <a:spAutoFit/>
          </a:bodyPr>
          <a:lstStyle/>
          <a:p>
            <a:pPr algn="just" marL="704071" indent="-352035" lvl="1">
              <a:lnSpc>
                <a:spcPts val="3652"/>
              </a:lnSpc>
              <a:buAutoNum type="arabicPeriod" startAt="1"/>
            </a:pPr>
            <a:r>
              <a:rPr lang="en-US" sz="3261">
                <a:solidFill>
                  <a:srgbClr val="000000"/>
                </a:solidFill>
                <a:latin typeface="Open Sauce"/>
                <a:ea typeface="Open Sauce"/>
                <a:cs typeface="Open Sauce"/>
                <a:sym typeface="Open Sauce"/>
              </a:rPr>
              <a:t>  Analisis Klastering (Pengelompokan Provinsi)</a:t>
            </a:r>
          </a:p>
          <a:p>
            <a:pPr algn="just" marL="704071" indent="-352035" lvl="1">
              <a:lnSpc>
                <a:spcPts val="3652"/>
              </a:lnSpc>
              <a:buAutoNum type="arabicPeriod" startAt="1"/>
            </a:pPr>
            <a:r>
              <a:rPr lang="en-US" sz="3261">
                <a:solidFill>
                  <a:srgbClr val="000000"/>
                </a:solidFill>
                <a:latin typeface="Open Sauce"/>
                <a:ea typeface="Open Sauce"/>
                <a:cs typeface="Open Sauce"/>
                <a:sym typeface="Open Sauce"/>
              </a:rPr>
              <a:t> Mencari dan melakukan hal serupa untuk tingkat kab/kota</a:t>
            </a:r>
          </a:p>
          <a:p>
            <a:pPr algn="just" marL="704071" indent="-352035" lvl="1">
              <a:lnSpc>
                <a:spcPts val="3652"/>
              </a:lnSpc>
              <a:spcBef>
                <a:spcPct val="0"/>
              </a:spcBef>
              <a:buAutoNum type="arabicPeriod" startAt="1"/>
            </a:pPr>
            <a:r>
              <a:rPr lang="en-US" sz="3261">
                <a:solidFill>
                  <a:srgbClr val="000000"/>
                </a:solidFill>
                <a:latin typeface="Open Sauce"/>
                <a:ea typeface="Open Sauce"/>
                <a:cs typeface="Open Sauce"/>
                <a:sym typeface="Open Sauce"/>
              </a:rPr>
              <a:t>Eksplorasi Variabel Tambahan</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0" y="-24110"/>
            <a:ext cx="1210847" cy="3258695"/>
            <a:chOff x="0" y="0"/>
            <a:chExt cx="318906" cy="858257"/>
          </a:xfrm>
        </p:grpSpPr>
        <p:sp>
          <p:nvSpPr>
            <p:cNvPr name="Freeform 4" id="4"/>
            <p:cNvSpPr/>
            <p:nvPr/>
          </p:nvSpPr>
          <p:spPr>
            <a:xfrm flipH="false" flipV="false" rot="0">
              <a:off x="0" y="0"/>
              <a:ext cx="318906" cy="858257"/>
            </a:xfrm>
            <a:custGeom>
              <a:avLst/>
              <a:gdLst/>
              <a:ahLst/>
              <a:cxnLst/>
              <a:rect r="r" b="b" t="t" l="l"/>
              <a:pathLst>
                <a:path h="858257" w="318906">
                  <a:moveTo>
                    <a:pt x="0" y="0"/>
                  </a:moveTo>
                  <a:lnTo>
                    <a:pt x="318906" y="0"/>
                  </a:lnTo>
                  <a:lnTo>
                    <a:pt x="318906" y="858257"/>
                  </a:lnTo>
                  <a:lnTo>
                    <a:pt x="0" y="858257"/>
                  </a:lnTo>
                  <a:close/>
                </a:path>
              </a:pathLst>
            </a:custGeom>
            <a:solidFill>
              <a:srgbClr val="FFBD59"/>
            </a:solidFill>
          </p:spPr>
        </p:sp>
        <p:sp>
          <p:nvSpPr>
            <p:cNvPr name="TextBox 5" id="5"/>
            <p:cNvSpPr txBox="true"/>
            <p:nvPr/>
          </p:nvSpPr>
          <p:spPr>
            <a:xfrm>
              <a:off x="0" y="19050"/>
              <a:ext cx="318906" cy="839207"/>
            </a:xfrm>
            <a:prstGeom prst="rect">
              <a:avLst/>
            </a:prstGeom>
          </p:spPr>
          <p:txBody>
            <a:bodyPr anchor="ctr" rtlCol="false" tIns="50800" lIns="50800" bIns="50800" rIns="50800"/>
            <a:lstStyle/>
            <a:p>
              <a:pPr algn="ctr">
                <a:lnSpc>
                  <a:spcPts val="2251"/>
                </a:lnSpc>
              </a:pPr>
            </a:p>
          </p:txBody>
        </p:sp>
      </p:grpSp>
      <p:sp>
        <p:nvSpPr>
          <p:cNvPr name="Freeform 6" id="6"/>
          <p:cNvSpPr/>
          <p:nvPr/>
        </p:nvSpPr>
        <p:spPr>
          <a:xfrm flipH="false" flipV="false" rot="0">
            <a:off x="14672601" y="-2563786"/>
            <a:ext cx="5559220" cy="5559220"/>
          </a:xfrm>
          <a:custGeom>
            <a:avLst/>
            <a:gdLst/>
            <a:ahLst/>
            <a:cxnLst/>
            <a:rect r="r" b="b" t="t" l="l"/>
            <a:pathLst>
              <a:path h="5559220" w="5559220">
                <a:moveTo>
                  <a:pt x="0" y="0"/>
                </a:moveTo>
                <a:lnTo>
                  <a:pt x="5559219" y="0"/>
                </a:lnTo>
                <a:lnTo>
                  <a:pt x="5559219" y="5559220"/>
                </a:lnTo>
                <a:lnTo>
                  <a:pt x="0" y="55592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3189652" y="8782688"/>
            <a:ext cx="6448517" cy="6448517"/>
          </a:xfrm>
          <a:custGeom>
            <a:avLst/>
            <a:gdLst/>
            <a:ahLst/>
            <a:cxnLst/>
            <a:rect r="r" b="b" t="t" l="l"/>
            <a:pathLst>
              <a:path h="6448517" w="6448517">
                <a:moveTo>
                  <a:pt x="0" y="0"/>
                </a:moveTo>
                <a:lnTo>
                  <a:pt x="6448517" y="0"/>
                </a:lnTo>
                <a:lnTo>
                  <a:pt x="6448517" y="6448517"/>
                </a:lnTo>
                <a:lnTo>
                  <a:pt x="0" y="64485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2785159" y="-3254174"/>
            <a:ext cx="3813859" cy="6460128"/>
            <a:chOff x="0" y="0"/>
            <a:chExt cx="1004473" cy="1701433"/>
          </a:xfrm>
        </p:grpSpPr>
        <p:sp>
          <p:nvSpPr>
            <p:cNvPr name="Freeform 9" id="9"/>
            <p:cNvSpPr/>
            <p:nvPr/>
          </p:nvSpPr>
          <p:spPr>
            <a:xfrm flipH="false" flipV="false" rot="0">
              <a:off x="0" y="0"/>
              <a:ext cx="1004473" cy="1701433"/>
            </a:xfrm>
            <a:custGeom>
              <a:avLst/>
              <a:gdLst/>
              <a:ahLst/>
              <a:cxnLst/>
              <a:rect r="r" b="b" t="t" l="l"/>
              <a:pathLst>
                <a:path h="1701433" w="1004473">
                  <a:moveTo>
                    <a:pt x="0" y="0"/>
                  </a:moveTo>
                  <a:lnTo>
                    <a:pt x="1004473" y="0"/>
                  </a:lnTo>
                  <a:lnTo>
                    <a:pt x="1004473" y="1701433"/>
                  </a:lnTo>
                  <a:lnTo>
                    <a:pt x="0" y="1701433"/>
                  </a:lnTo>
                  <a:close/>
                </a:path>
              </a:pathLst>
            </a:custGeom>
            <a:solidFill>
              <a:srgbClr val="04458F"/>
            </a:solidFill>
          </p:spPr>
        </p:sp>
        <p:sp>
          <p:nvSpPr>
            <p:cNvPr name="TextBox 10" id="10"/>
            <p:cNvSpPr txBox="true"/>
            <p:nvPr/>
          </p:nvSpPr>
          <p:spPr>
            <a:xfrm>
              <a:off x="0" y="19050"/>
              <a:ext cx="1004473" cy="1682383"/>
            </a:xfrm>
            <a:prstGeom prst="rect">
              <a:avLst/>
            </a:prstGeom>
          </p:spPr>
          <p:txBody>
            <a:bodyPr anchor="ctr" rtlCol="false" tIns="50800" lIns="50800" bIns="50800" rIns="50800"/>
            <a:lstStyle/>
            <a:p>
              <a:pPr algn="ctr">
                <a:lnSpc>
                  <a:spcPts val="2251"/>
                </a:lnSpc>
              </a:pPr>
            </a:p>
          </p:txBody>
        </p:sp>
      </p:grpSp>
      <p:grpSp>
        <p:nvGrpSpPr>
          <p:cNvPr name="Group 11" id="11"/>
          <p:cNvGrpSpPr/>
          <p:nvPr/>
        </p:nvGrpSpPr>
        <p:grpSpPr>
          <a:xfrm rot="0">
            <a:off x="10619815" y="9648825"/>
            <a:ext cx="8105572" cy="5310057"/>
            <a:chOff x="0" y="0"/>
            <a:chExt cx="2134801" cy="1398534"/>
          </a:xfrm>
        </p:grpSpPr>
        <p:sp>
          <p:nvSpPr>
            <p:cNvPr name="Freeform 12" id="12"/>
            <p:cNvSpPr/>
            <p:nvPr/>
          </p:nvSpPr>
          <p:spPr>
            <a:xfrm flipH="false" flipV="false" rot="0">
              <a:off x="0" y="0"/>
              <a:ext cx="2134801" cy="1398534"/>
            </a:xfrm>
            <a:custGeom>
              <a:avLst/>
              <a:gdLst/>
              <a:ahLst/>
              <a:cxnLst/>
              <a:rect r="r" b="b" t="t" l="l"/>
              <a:pathLst>
                <a:path h="1398534" w="2134801">
                  <a:moveTo>
                    <a:pt x="0" y="0"/>
                  </a:moveTo>
                  <a:lnTo>
                    <a:pt x="2134801" y="0"/>
                  </a:lnTo>
                  <a:lnTo>
                    <a:pt x="2134801" y="1398534"/>
                  </a:lnTo>
                  <a:lnTo>
                    <a:pt x="0" y="1398534"/>
                  </a:lnTo>
                  <a:close/>
                </a:path>
              </a:pathLst>
            </a:custGeom>
            <a:solidFill>
              <a:srgbClr val="04458F"/>
            </a:solidFill>
          </p:spPr>
        </p:sp>
        <p:sp>
          <p:nvSpPr>
            <p:cNvPr name="TextBox 13" id="13"/>
            <p:cNvSpPr txBox="true"/>
            <p:nvPr/>
          </p:nvSpPr>
          <p:spPr>
            <a:xfrm>
              <a:off x="0" y="19050"/>
              <a:ext cx="2134801" cy="1379484"/>
            </a:xfrm>
            <a:prstGeom prst="rect">
              <a:avLst/>
            </a:prstGeom>
          </p:spPr>
          <p:txBody>
            <a:bodyPr anchor="ctr" rtlCol="false" tIns="50800" lIns="50800" bIns="50800" rIns="50800"/>
            <a:lstStyle/>
            <a:p>
              <a:pPr algn="ctr">
                <a:lnSpc>
                  <a:spcPts val="2251"/>
                </a:lnSpc>
              </a:pPr>
            </a:p>
          </p:txBody>
        </p:sp>
      </p:grpSp>
      <p:sp>
        <p:nvSpPr>
          <p:cNvPr name="TextBox 14" id="14"/>
          <p:cNvSpPr txBox="true"/>
          <p:nvPr/>
        </p:nvSpPr>
        <p:spPr>
          <a:xfrm rot="0">
            <a:off x="1824593" y="1047750"/>
            <a:ext cx="3996116" cy="477601"/>
          </a:xfrm>
          <a:prstGeom prst="rect">
            <a:avLst/>
          </a:prstGeom>
        </p:spPr>
        <p:txBody>
          <a:bodyPr anchor="t" rtlCol="false" tIns="0" lIns="0" bIns="0" rIns="0">
            <a:spAutoFit/>
          </a:bodyPr>
          <a:lstStyle/>
          <a:p>
            <a:pPr algn="ctr">
              <a:lnSpc>
                <a:spcPts val="3652"/>
              </a:lnSpc>
              <a:spcBef>
                <a:spcPct val="0"/>
              </a:spcBef>
            </a:pPr>
            <a:r>
              <a:rPr lang="en-US" sz="3261">
                <a:solidFill>
                  <a:srgbClr val="000000"/>
                </a:solidFill>
                <a:latin typeface="Open Sauce"/>
                <a:ea typeface="Open Sauce"/>
                <a:cs typeface="Open Sauce"/>
                <a:sym typeface="Open Sauce"/>
              </a:rPr>
              <a:t>REFRENSI</a:t>
            </a:r>
          </a:p>
        </p:txBody>
      </p:sp>
      <p:sp>
        <p:nvSpPr>
          <p:cNvPr name="TextBox 15" id="15"/>
          <p:cNvSpPr txBox="true"/>
          <p:nvPr/>
        </p:nvSpPr>
        <p:spPr>
          <a:xfrm rot="0">
            <a:off x="2372135" y="1626318"/>
            <a:ext cx="12123172" cy="3199803"/>
          </a:xfrm>
          <a:prstGeom prst="rect">
            <a:avLst/>
          </a:prstGeom>
        </p:spPr>
        <p:txBody>
          <a:bodyPr anchor="t" rtlCol="false" tIns="0" lIns="0" bIns="0" rIns="0">
            <a:spAutoFit/>
          </a:bodyPr>
          <a:lstStyle/>
          <a:p>
            <a:pPr algn="just">
              <a:lnSpc>
                <a:spcPts val="3185"/>
              </a:lnSpc>
            </a:pPr>
            <a:r>
              <a:rPr lang="en-US" sz="2844">
                <a:solidFill>
                  <a:srgbClr val="04458F"/>
                </a:solidFill>
                <a:latin typeface="Open Sauce"/>
                <a:ea typeface="Open Sauce"/>
                <a:cs typeface="Open Sauce"/>
                <a:sym typeface="Open Sauce"/>
              </a:rPr>
              <a:t>A. S. Huda, "Analisis pengaruh tingkat pengangguran t</a:t>
            </a:r>
            <a:r>
              <a:rPr lang="en-US" sz="2844" u="none">
                <a:solidFill>
                  <a:srgbClr val="04458F"/>
                </a:solidFill>
                <a:latin typeface="Open Sauce"/>
                <a:ea typeface="Open Sauce"/>
                <a:cs typeface="Open Sauce"/>
                <a:sym typeface="Open Sauce"/>
              </a:rPr>
              <a:t>er</a:t>
            </a:r>
            <a:r>
              <a:rPr lang="en-US" sz="2844">
                <a:solidFill>
                  <a:srgbClr val="04458F"/>
                </a:solidFill>
                <a:latin typeface="Open Sauce"/>
                <a:ea typeface="Open Sauce"/>
                <a:cs typeface="Open Sauce"/>
                <a:sym typeface="Open Sauce"/>
              </a:rPr>
              <a:t>buka d</a:t>
            </a:r>
            <a:r>
              <a:rPr lang="en-US" sz="2844" u="none">
                <a:solidFill>
                  <a:srgbClr val="04458F"/>
                </a:solidFill>
                <a:latin typeface="Open Sauce"/>
                <a:ea typeface="Open Sauce"/>
                <a:cs typeface="Open Sauce"/>
                <a:sym typeface="Open Sauce"/>
              </a:rPr>
              <a:t>a</a:t>
            </a:r>
            <a:r>
              <a:rPr lang="en-US" sz="2844">
                <a:solidFill>
                  <a:srgbClr val="04458F"/>
                </a:solidFill>
                <a:latin typeface="Open Sauce"/>
                <a:ea typeface="Open Sauce"/>
                <a:cs typeface="Open Sauce"/>
                <a:sym typeface="Open Sauce"/>
              </a:rPr>
              <a:t>n ke</a:t>
            </a:r>
            <a:r>
              <a:rPr lang="en-US" sz="2844" u="none">
                <a:solidFill>
                  <a:srgbClr val="04458F"/>
                </a:solidFill>
                <a:latin typeface="Open Sauce"/>
                <a:ea typeface="Open Sauce"/>
                <a:cs typeface="Open Sauce"/>
                <a:sym typeface="Open Sauce"/>
              </a:rPr>
              <a:t>mi</a:t>
            </a:r>
            <a:r>
              <a:rPr lang="en-US" sz="2844">
                <a:solidFill>
                  <a:srgbClr val="04458F"/>
                </a:solidFill>
                <a:latin typeface="Open Sauce"/>
                <a:ea typeface="Open Sauce"/>
                <a:cs typeface="Open Sauce"/>
                <a:sym typeface="Open Sauce"/>
              </a:rPr>
              <a:t>s</a:t>
            </a:r>
            <a:r>
              <a:rPr lang="en-US" sz="2844" u="none">
                <a:solidFill>
                  <a:srgbClr val="04458F"/>
                </a:solidFill>
                <a:latin typeface="Open Sauce"/>
                <a:ea typeface="Open Sauce"/>
                <a:cs typeface="Open Sauce"/>
                <a:sym typeface="Open Sauce"/>
              </a:rPr>
              <a:t>kin</a:t>
            </a:r>
            <a:r>
              <a:rPr lang="en-US" sz="2844">
                <a:solidFill>
                  <a:srgbClr val="04458F"/>
                </a:solidFill>
                <a:latin typeface="Open Sauce"/>
                <a:ea typeface="Open Sauce"/>
                <a:cs typeface="Open Sauce"/>
                <a:sym typeface="Open Sauce"/>
              </a:rPr>
              <a:t>a</a:t>
            </a:r>
            <a:r>
              <a:rPr lang="en-US" sz="2844" u="none">
                <a:solidFill>
                  <a:srgbClr val="04458F"/>
                </a:solidFill>
                <a:latin typeface="Open Sauce"/>
                <a:ea typeface="Open Sauce"/>
                <a:cs typeface="Open Sauce"/>
                <a:sym typeface="Open Sauce"/>
              </a:rPr>
              <a:t>n</a:t>
            </a:r>
            <a:r>
              <a:rPr lang="en-US" sz="2844">
                <a:solidFill>
                  <a:srgbClr val="04458F"/>
                </a:solidFill>
                <a:latin typeface="Open Sauce"/>
                <a:ea typeface="Open Sauce"/>
                <a:cs typeface="Open Sauce"/>
                <a:sym typeface="Open Sauce"/>
              </a:rPr>
              <a:t> t</a:t>
            </a:r>
            <a:r>
              <a:rPr lang="en-US" sz="2844" u="none">
                <a:solidFill>
                  <a:srgbClr val="04458F"/>
                </a:solidFill>
                <a:latin typeface="Open Sauce"/>
                <a:ea typeface="Open Sauce"/>
                <a:cs typeface="Open Sauce"/>
                <a:sym typeface="Open Sauce"/>
              </a:rPr>
              <a:t>e</a:t>
            </a:r>
            <a:r>
              <a:rPr lang="en-US" sz="2844">
                <a:solidFill>
                  <a:srgbClr val="04458F"/>
                </a:solidFill>
                <a:latin typeface="Open Sauce"/>
                <a:ea typeface="Open Sauce"/>
                <a:cs typeface="Open Sauce"/>
                <a:sym typeface="Open Sauce"/>
              </a:rPr>
              <a:t>rha</a:t>
            </a:r>
            <a:r>
              <a:rPr lang="en-US" sz="2844" u="none">
                <a:solidFill>
                  <a:srgbClr val="04458F"/>
                </a:solidFill>
                <a:latin typeface="Open Sauce"/>
                <a:ea typeface="Open Sauce"/>
                <a:cs typeface="Open Sauce"/>
                <a:sym typeface="Open Sauce"/>
              </a:rPr>
              <a:t>da</a:t>
            </a:r>
            <a:r>
              <a:rPr lang="en-US" sz="2844">
                <a:solidFill>
                  <a:srgbClr val="04458F"/>
                </a:solidFill>
                <a:latin typeface="Open Sauce"/>
                <a:ea typeface="Open Sauce"/>
                <a:cs typeface="Open Sauce"/>
                <a:sym typeface="Open Sauce"/>
              </a:rPr>
              <a:t>p </a:t>
            </a:r>
            <a:r>
              <a:rPr lang="en-US" sz="2844" u="none">
                <a:solidFill>
                  <a:srgbClr val="04458F"/>
                </a:solidFill>
                <a:latin typeface="Open Sauce"/>
                <a:ea typeface="Open Sauce"/>
                <a:cs typeface="Open Sauce"/>
                <a:sym typeface="Open Sauce"/>
              </a:rPr>
              <a:t>kriminalitas</a:t>
            </a:r>
            <a:r>
              <a:rPr lang="en-US" sz="2844">
                <a:solidFill>
                  <a:srgbClr val="04458F"/>
                </a:solidFill>
                <a:latin typeface="Open Sauce"/>
                <a:ea typeface="Open Sauce"/>
                <a:cs typeface="Open Sauce"/>
                <a:sym typeface="Open Sauce"/>
              </a:rPr>
              <a:t> </a:t>
            </a:r>
            <a:r>
              <a:rPr lang="en-US" sz="2844" u="none">
                <a:solidFill>
                  <a:srgbClr val="04458F"/>
                </a:solidFill>
                <a:latin typeface="Open Sauce"/>
                <a:ea typeface="Open Sauce"/>
                <a:cs typeface="Open Sauce"/>
                <a:sym typeface="Open Sauce"/>
              </a:rPr>
              <a:t>di</a:t>
            </a:r>
            <a:r>
              <a:rPr lang="en-US" sz="2844">
                <a:solidFill>
                  <a:srgbClr val="04458F"/>
                </a:solidFill>
                <a:latin typeface="Open Sauce"/>
                <a:ea typeface="Open Sauce"/>
                <a:cs typeface="Open Sauce"/>
                <a:sym typeface="Open Sauce"/>
              </a:rPr>
              <a:t> I</a:t>
            </a:r>
            <a:r>
              <a:rPr lang="en-US" sz="2844" u="none">
                <a:solidFill>
                  <a:srgbClr val="04458F"/>
                </a:solidFill>
                <a:latin typeface="Open Sauce"/>
                <a:ea typeface="Open Sauce"/>
                <a:cs typeface="Open Sauce"/>
                <a:sym typeface="Open Sauce"/>
              </a:rPr>
              <a:t>ndonesia</a:t>
            </a:r>
            <a:r>
              <a:rPr lang="en-US" sz="2844">
                <a:solidFill>
                  <a:srgbClr val="04458F"/>
                </a:solidFill>
                <a:latin typeface="Open Sauce"/>
                <a:ea typeface="Open Sauce"/>
                <a:cs typeface="Open Sauce"/>
                <a:sym typeface="Open Sauce"/>
              </a:rPr>
              <a:t>," J</a:t>
            </a:r>
            <a:r>
              <a:rPr lang="en-US" sz="2844" u="none">
                <a:solidFill>
                  <a:srgbClr val="04458F"/>
                </a:solidFill>
                <a:latin typeface="Open Sauce"/>
                <a:ea typeface="Open Sauce"/>
                <a:cs typeface="Open Sauce"/>
                <a:sym typeface="Open Sauce"/>
              </a:rPr>
              <a:t>u</a:t>
            </a:r>
            <a:r>
              <a:rPr lang="en-US" sz="2844">
                <a:solidFill>
                  <a:srgbClr val="04458F"/>
                </a:solidFill>
                <a:latin typeface="Open Sauce"/>
                <a:ea typeface="Open Sauce"/>
                <a:cs typeface="Open Sauce"/>
                <a:sym typeface="Open Sauce"/>
              </a:rPr>
              <a:t>r</a:t>
            </a:r>
            <a:r>
              <a:rPr lang="en-US" sz="2844" u="none">
                <a:solidFill>
                  <a:srgbClr val="04458F"/>
                </a:solidFill>
                <a:latin typeface="Open Sauce"/>
                <a:ea typeface="Open Sauce"/>
                <a:cs typeface="Open Sauce"/>
                <a:sym typeface="Open Sauce"/>
              </a:rPr>
              <a:t>na</a:t>
            </a:r>
            <a:r>
              <a:rPr lang="en-US" sz="2844">
                <a:solidFill>
                  <a:srgbClr val="04458F"/>
                </a:solidFill>
                <a:latin typeface="Open Sauce"/>
                <a:ea typeface="Open Sauce"/>
                <a:cs typeface="Open Sauce"/>
                <a:sym typeface="Open Sauce"/>
              </a:rPr>
              <a:t>l </a:t>
            </a:r>
            <a:r>
              <a:rPr lang="en-US" sz="2844" u="none">
                <a:solidFill>
                  <a:srgbClr val="04458F"/>
                </a:solidFill>
                <a:latin typeface="Open Sauce"/>
                <a:ea typeface="Open Sauce"/>
                <a:cs typeface="Open Sauce"/>
                <a:sym typeface="Open Sauce"/>
              </a:rPr>
              <a:t>E</a:t>
            </a:r>
            <a:r>
              <a:rPr lang="en-US" sz="2844">
                <a:solidFill>
                  <a:srgbClr val="04458F"/>
                </a:solidFill>
                <a:latin typeface="Open Sauce"/>
                <a:ea typeface="Open Sauce"/>
                <a:cs typeface="Open Sauce"/>
                <a:sym typeface="Open Sauce"/>
              </a:rPr>
              <a:t>ko</a:t>
            </a:r>
            <a:r>
              <a:rPr lang="en-US" sz="2844">
                <a:solidFill>
                  <a:srgbClr val="04458F"/>
                </a:solidFill>
                <a:latin typeface="Open Sauce"/>
                <a:ea typeface="Open Sauce"/>
                <a:cs typeface="Open Sauce"/>
                <a:sym typeface="Open Sauce"/>
              </a:rPr>
              <a:t>n. Pembang., vol. 16, no. 2, pp. 120–133, Dec. 2018.</a:t>
            </a:r>
          </a:p>
          <a:p>
            <a:pPr algn="just">
              <a:lnSpc>
                <a:spcPts val="3185"/>
              </a:lnSpc>
            </a:pPr>
          </a:p>
          <a:p>
            <a:pPr algn="just">
              <a:lnSpc>
                <a:spcPts val="3185"/>
              </a:lnSpc>
              <a:spcBef>
                <a:spcPct val="0"/>
              </a:spcBef>
            </a:pPr>
            <a:r>
              <a:rPr lang="en-US" sz="2844">
                <a:solidFill>
                  <a:srgbClr val="04458F"/>
                </a:solidFill>
                <a:latin typeface="Open Sauce"/>
                <a:ea typeface="Open Sauce"/>
                <a:cs typeface="Open Sauce"/>
                <a:sym typeface="Open Sauce"/>
              </a:rPr>
              <a:t>F. R. Sianturi and A. H. Yasin, "Analisis faktor-faktor ekonomi yang memengaruhi tingkat kejahatan di Indonesia: Perspektif Economic Theory of Crime," Jurnal Ekon. dan Kebijakan Publik, vol. 12, no. 2, pp. 145–158, Nov. 2021.</a:t>
            </a:r>
          </a:p>
        </p:txBody>
      </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763967" y="-3075790"/>
            <a:ext cx="6151581" cy="6151581"/>
          </a:xfrm>
          <a:custGeom>
            <a:avLst/>
            <a:gdLst/>
            <a:ahLst/>
            <a:cxnLst/>
            <a:rect r="r" b="b" t="t" l="l"/>
            <a:pathLst>
              <a:path h="6151581" w="6151581">
                <a:moveTo>
                  <a:pt x="0" y="0"/>
                </a:moveTo>
                <a:lnTo>
                  <a:pt x="6151581" y="0"/>
                </a:lnTo>
                <a:lnTo>
                  <a:pt x="6151581" y="6151580"/>
                </a:lnTo>
                <a:lnTo>
                  <a:pt x="0" y="61515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128634" y="7158366"/>
            <a:ext cx="6257269" cy="6257269"/>
          </a:xfrm>
          <a:custGeom>
            <a:avLst/>
            <a:gdLst/>
            <a:ahLst/>
            <a:cxnLst/>
            <a:rect r="r" b="b" t="t" l="l"/>
            <a:pathLst>
              <a:path h="6257269" w="6257269">
                <a:moveTo>
                  <a:pt x="0" y="0"/>
                </a:moveTo>
                <a:lnTo>
                  <a:pt x="6257268" y="0"/>
                </a:lnTo>
                <a:lnTo>
                  <a:pt x="6257268" y="6257268"/>
                </a:lnTo>
                <a:lnTo>
                  <a:pt x="0" y="625726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3732383" y="4645905"/>
            <a:ext cx="10823235" cy="1366665"/>
          </a:xfrm>
          <a:prstGeom prst="rect">
            <a:avLst/>
          </a:prstGeom>
        </p:spPr>
        <p:txBody>
          <a:bodyPr anchor="t" rtlCol="false" tIns="0" lIns="0" bIns="0" rIns="0">
            <a:spAutoFit/>
          </a:bodyPr>
          <a:lstStyle/>
          <a:p>
            <a:pPr algn="l" marL="0" indent="0" lvl="0">
              <a:lnSpc>
                <a:spcPts val="9831"/>
              </a:lnSpc>
              <a:spcBef>
                <a:spcPct val="0"/>
              </a:spcBef>
            </a:pPr>
            <a:r>
              <a:rPr lang="en-US" b="true" sz="11432">
                <a:solidFill>
                  <a:srgbClr val="04458F"/>
                </a:solidFill>
                <a:latin typeface="Open Sauce Bold"/>
                <a:ea typeface="Open Sauce Bold"/>
                <a:cs typeface="Open Sauce Bold"/>
                <a:sym typeface="Open Sauce Bold"/>
              </a:rPr>
              <a:t>TERIMA KASIH </a:t>
            </a:r>
          </a:p>
        </p:txBody>
      </p:sp>
      <p:grpSp>
        <p:nvGrpSpPr>
          <p:cNvPr name="Group 6" id="6"/>
          <p:cNvGrpSpPr/>
          <p:nvPr/>
        </p:nvGrpSpPr>
        <p:grpSpPr>
          <a:xfrm rot="0">
            <a:off x="-351656" y="-239763"/>
            <a:ext cx="4013896" cy="2106909"/>
            <a:chOff x="0" y="0"/>
            <a:chExt cx="1122609" cy="589261"/>
          </a:xfrm>
        </p:grpSpPr>
        <p:sp>
          <p:nvSpPr>
            <p:cNvPr name="Freeform 7" id="7"/>
            <p:cNvSpPr/>
            <p:nvPr/>
          </p:nvSpPr>
          <p:spPr>
            <a:xfrm flipH="false" flipV="false" rot="0">
              <a:off x="0" y="0"/>
              <a:ext cx="1122609" cy="589261"/>
            </a:xfrm>
            <a:custGeom>
              <a:avLst/>
              <a:gdLst/>
              <a:ahLst/>
              <a:cxnLst/>
              <a:rect r="r" b="b" t="t" l="l"/>
              <a:pathLst>
                <a:path h="589261" w="1122609">
                  <a:moveTo>
                    <a:pt x="102225" y="0"/>
                  </a:moveTo>
                  <a:lnTo>
                    <a:pt x="1020383" y="0"/>
                  </a:lnTo>
                  <a:cubicBezTo>
                    <a:pt x="1076841" y="0"/>
                    <a:pt x="1122609" y="45768"/>
                    <a:pt x="1122609" y="102225"/>
                  </a:cubicBezTo>
                  <a:lnTo>
                    <a:pt x="1122609" y="487036"/>
                  </a:lnTo>
                  <a:cubicBezTo>
                    <a:pt x="1122609" y="514148"/>
                    <a:pt x="1111839" y="540149"/>
                    <a:pt x="1092668" y="559320"/>
                  </a:cubicBezTo>
                  <a:cubicBezTo>
                    <a:pt x="1073497" y="578491"/>
                    <a:pt x="1047495" y="589261"/>
                    <a:pt x="1020383" y="589261"/>
                  </a:cubicBezTo>
                  <a:lnTo>
                    <a:pt x="102225" y="589261"/>
                  </a:lnTo>
                  <a:cubicBezTo>
                    <a:pt x="45768" y="589261"/>
                    <a:pt x="0" y="543494"/>
                    <a:pt x="0" y="487036"/>
                  </a:cubicBezTo>
                  <a:lnTo>
                    <a:pt x="0" y="102225"/>
                  </a:lnTo>
                  <a:cubicBezTo>
                    <a:pt x="0" y="75113"/>
                    <a:pt x="10770" y="49112"/>
                    <a:pt x="29941" y="29941"/>
                  </a:cubicBezTo>
                  <a:cubicBezTo>
                    <a:pt x="49112" y="10770"/>
                    <a:pt x="75113" y="0"/>
                    <a:pt x="102225" y="0"/>
                  </a:cubicBezTo>
                  <a:close/>
                </a:path>
              </a:pathLst>
            </a:custGeom>
            <a:solidFill>
              <a:srgbClr val="04458F"/>
            </a:solidFill>
          </p:spPr>
        </p:sp>
        <p:sp>
          <p:nvSpPr>
            <p:cNvPr name="TextBox 8" id="8"/>
            <p:cNvSpPr txBox="true"/>
            <p:nvPr/>
          </p:nvSpPr>
          <p:spPr>
            <a:xfrm>
              <a:off x="0" y="19050"/>
              <a:ext cx="1122609" cy="570211"/>
            </a:xfrm>
            <a:prstGeom prst="rect">
              <a:avLst/>
            </a:prstGeom>
          </p:spPr>
          <p:txBody>
            <a:bodyPr anchor="ctr" rtlCol="false" tIns="50800" lIns="50800" bIns="50800" rIns="50800"/>
            <a:lstStyle/>
            <a:p>
              <a:pPr algn="ctr">
                <a:lnSpc>
                  <a:spcPts val="2251"/>
                </a:lnSpc>
              </a:pPr>
            </a:p>
          </p:txBody>
        </p:sp>
      </p:grpSp>
      <p:sp>
        <p:nvSpPr>
          <p:cNvPr name="Freeform 9" id="9"/>
          <p:cNvSpPr/>
          <p:nvPr/>
        </p:nvSpPr>
        <p:spPr>
          <a:xfrm flipH="false" flipV="false" rot="0">
            <a:off x="235976" y="-268"/>
            <a:ext cx="1369739" cy="1569041"/>
          </a:xfrm>
          <a:custGeom>
            <a:avLst/>
            <a:gdLst/>
            <a:ahLst/>
            <a:cxnLst/>
            <a:rect r="r" b="b" t="t" l="l"/>
            <a:pathLst>
              <a:path h="1569041" w="1369739">
                <a:moveTo>
                  <a:pt x="0" y="0"/>
                </a:moveTo>
                <a:lnTo>
                  <a:pt x="1369738" y="0"/>
                </a:lnTo>
                <a:lnTo>
                  <a:pt x="1369738" y="1569041"/>
                </a:lnTo>
                <a:lnTo>
                  <a:pt x="0" y="1569041"/>
                </a:lnTo>
                <a:lnTo>
                  <a:pt x="0" y="0"/>
                </a:lnTo>
                <a:close/>
              </a:path>
            </a:pathLst>
          </a:custGeom>
          <a:blipFill>
            <a:blip r:embed="rId5"/>
            <a:stretch>
              <a:fillRect l="-2237" t="0" r="-2237" b="0"/>
            </a:stretch>
          </a:blipFill>
        </p:spPr>
      </p:sp>
      <p:sp>
        <p:nvSpPr>
          <p:cNvPr name="Freeform 10" id="10"/>
          <p:cNvSpPr/>
          <p:nvPr/>
        </p:nvSpPr>
        <p:spPr>
          <a:xfrm flipH="false" flipV="false" rot="0">
            <a:off x="1456388" y="-994006"/>
            <a:ext cx="2205852" cy="3687307"/>
          </a:xfrm>
          <a:custGeom>
            <a:avLst/>
            <a:gdLst/>
            <a:ahLst/>
            <a:cxnLst/>
            <a:rect r="r" b="b" t="t" l="l"/>
            <a:pathLst>
              <a:path h="3687307" w="2205852">
                <a:moveTo>
                  <a:pt x="0" y="0"/>
                </a:moveTo>
                <a:lnTo>
                  <a:pt x="2205852" y="0"/>
                </a:lnTo>
                <a:lnTo>
                  <a:pt x="2205852" y="3687308"/>
                </a:lnTo>
                <a:lnTo>
                  <a:pt x="0" y="3687308"/>
                </a:lnTo>
                <a:lnTo>
                  <a:pt x="0" y="0"/>
                </a:lnTo>
                <a:close/>
              </a:path>
            </a:pathLst>
          </a:custGeom>
          <a:blipFill>
            <a:blip r:embed="rId6"/>
            <a:stretch>
              <a:fillRect l="-2237" t="0" r="-2237" b="0"/>
            </a:stretch>
          </a:blipFill>
        </p:spPr>
      </p:sp>
      <p:grpSp>
        <p:nvGrpSpPr>
          <p:cNvPr name="Group 11" id="11"/>
          <p:cNvGrpSpPr/>
          <p:nvPr/>
        </p:nvGrpSpPr>
        <p:grpSpPr>
          <a:xfrm rot="0">
            <a:off x="8665593" y="9258300"/>
            <a:ext cx="10174164" cy="5310057"/>
            <a:chOff x="0" y="0"/>
            <a:chExt cx="2679615" cy="1398534"/>
          </a:xfrm>
        </p:grpSpPr>
        <p:sp>
          <p:nvSpPr>
            <p:cNvPr name="Freeform 12" id="12"/>
            <p:cNvSpPr/>
            <p:nvPr/>
          </p:nvSpPr>
          <p:spPr>
            <a:xfrm flipH="false" flipV="false" rot="0">
              <a:off x="0" y="0"/>
              <a:ext cx="2679615" cy="1398534"/>
            </a:xfrm>
            <a:custGeom>
              <a:avLst/>
              <a:gdLst/>
              <a:ahLst/>
              <a:cxnLst/>
              <a:rect r="r" b="b" t="t" l="l"/>
              <a:pathLst>
                <a:path h="1398534" w="2679615">
                  <a:moveTo>
                    <a:pt x="73050" y="0"/>
                  </a:moveTo>
                  <a:lnTo>
                    <a:pt x="2606565" y="0"/>
                  </a:lnTo>
                  <a:cubicBezTo>
                    <a:pt x="2625939" y="0"/>
                    <a:pt x="2644520" y="7696"/>
                    <a:pt x="2658219" y="21396"/>
                  </a:cubicBezTo>
                  <a:cubicBezTo>
                    <a:pt x="2671919" y="35095"/>
                    <a:pt x="2679615" y="53676"/>
                    <a:pt x="2679615" y="73050"/>
                  </a:cubicBezTo>
                  <a:lnTo>
                    <a:pt x="2679615" y="1325483"/>
                  </a:lnTo>
                  <a:cubicBezTo>
                    <a:pt x="2679615" y="1344858"/>
                    <a:pt x="2671919" y="1363438"/>
                    <a:pt x="2658219" y="1377138"/>
                  </a:cubicBezTo>
                  <a:cubicBezTo>
                    <a:pt x="2644520" y="1390837"/>
                    <a:pt x="2625939" y="1398534"/>
                    <a:pt x="2606565" y="1398534"/>
                  </a:cubicBezTo>
                  <a:lnTo>
                    <a:pt x="73050" y="1398534"/>
                  </a:lnTo>
                  <a:cubicBezTo>
                    <a:pt x="53676" y="1398534"/>
                    <a:pt x="35095" y="1390837"/>
                    <a:pt x="21396" y="1377138"/>
                  </a:cubicBezTo>
                  <a:cubicBezTo>
                    <a:pt x="7696" y="1363438"/>
                    <a:pt x="0" y="1344858"/>
                    <a:pt x="0" y="1325483"/>
                  </a:cubicBezTo>
                  <a:lnTo>
                    <a:pt x="0" y="73050"/>
                  </a:lnTo>
                  <a:cubicBezTo>
                    <a:pt x="0" y="53676"/>
                    <a:pt x="7696" y="35095"/>
                    <a:pt x="21396" y="21396"/>
                  </a:cubicBezTo>
                  <a:cubicBezTo>
                    <a:pt x="35095" y="7696"/>
                    <a:pt x="53676" y="0"/>
                    <a:pt x="73050" y="0"/>
                  </a:cubicBezTo>
                  <a:close/>
                </a:path>
              </a:pathLst>
            </a:custGeom>
            <a:solidFill>
              <a:srgbClr val="04458F"/>
            </a:solidFill>
          </p:spPr>
        </p:sp>
        <p:sp>
          <p:nvSpPr>
            <p:cNvPr name="TextBox 13" id="13"/>
            <p:cNvSpPr txBox="true"/>
            <p:nvPr/>
          </p:nvSpPr>
          <p:spPr>
            <a:xfrm>
              <a:off x="0" y="19050"/>
              <a:ext cx="2679615" cy="1379484"/>
            </a:xfrm>
            <a:prstGeom prst="rect">
              <a:avLst/>
            </a:prstGeom>
          </p:spPr>
          <p:txBody>
            <a:bodyPr anchor="ctr" rtlCol="false" tIns="50800" lIns="50800" bIns="50800" rIns="50800"/>
            <a:lstStyle/>
            <a:p>
              <a:pPr algn="ctr">
                <a:lnSpc>
                  <a:spcPts val="2251"/>
                </a:lnSpc>
              </a:pPr>
            </a:p>
          </p:txBody>
        </p:sp>
      </p:grpSp>
      <p:grpSp>
        <p:nvGrpSpPr>
          <p:cNvPr name="Group 14" id="14"/>
          <p:cNvGrpSpPr/>
          <p:nvPr/>
        </p:nvGrpSpPr>
        <p:grpSpPr>
          <a:xfrm rot="0">
            <a:off x="7658395" y="9816549"/>
            <a:ext cx="10629605" cy="5310057"/>
            <a:chOff x="0" y="0"/>
            <a:chExt cx="2799567" cy="1398534"/>
          </a:xfrm>
        </p:grpSpPr>
        <p:sp>
          <p:nvSpPr>
            <p:cNvPr name="Freeform 15" id="15"/>
            <p:cNvSpPr/>
            <p:nvPr/>
          </p:nvSpPr>
          <p:spPr>
            <a:xfrm flipH="false" flipV="false" rot="0">
              <a:off x="0" y="0"/>
              <a:ext cx="2799567" cy="1398534"/>
            </a:xfrm>
            <a:custGeom>
              <a:avLst/>
              <a:gdLst/>
              <a:ahLst/>
              <a:cxnLst/>
              <a:rect r="r" b="b" t="t" l="l"/>
              <a:pathLst>
                <a:path h="1398534" w="2799567">
                  <a:moveTo>
                    <a:pt x="69920" y="0"/>
                  </a:moveTo>
                  <a:lnTo>
                    <a:pt x="2729647" y="0"/>
                  </a:lnTo>
                  <a:cubicBezTo>
                    <a:pt x="2768262" y="0"/>
                    <a:pt x="2799567" y="31304"/>
                    <a:pt x="2799567" y="69920"/>
                  </a:cubicBezTo>
                  <a:lnTo>
                    <a:pt x="2799567" y="1328613"/>
                  </a:lnTo>
                  <a:cubicBezTo>
                    <a:pt x="2799567" y="1347157"/>
                    <a:pt x="2792200" y="1364942"/>
                    <a:pt x="2779088" y="1378054"/>
                  </a:cubicBezTo>
                  <a:cubicBezTo>
                    <a:pt x="2765975" y="1391167"/>
                    <a:pt x="2748191" y="1398534"/>
                    <a:pt x="2729647" y="1398534"/>
                  </a:cubicBezTo>
                  <a:lnTo>
                    <a:pt x="69920" y="1398534"/>
                  </a:lnTo>
                  <a:cubicBezTo>
                    <a:pt x="31304" y="1398534"/>
                    <a:pt x="0" y="1367229"/>
                    <a:pt x="0" y="1328613"/>
                  </a:cubicBezTo>
                  <a:lnTo>
                    <a:pt x="0" y="69920"/>
                  </a:lnTo>
                  <a:cubicBezTo>
                    <a:pt x="0" y="51376"/>
                    <a:pt x="7367" y="33592"/>
                    <a:pt x="20479" y="20479"/>
                  </a:cubicBezTo>
                  <a:cubicBezTo>
                    <a:pt x="33592" y="7367"/>
                    <a:pt x="51376" y="0"/>
                    <a:pt x="69920" y="0"/>
                  </a:cubicBezTo>
                  <a:close/>
                </a:path>
              </a:pathLst>
            </a:custGeom>
            <a:solidFill>
              <a:srgbClr val="3E426F"/>
            </a:solidFill>
          </p:spPr>
        </p:sp>
        <p:sp>
          <p:nvSpPr>
            <p:cNvPr name="TextBox 16" id="16"/>
            <p:cNvSpPr txBox="true"/>
            <p:nvPr/>
          </p:nvSpPr>
          <p:spPr>
            <a:xfrm>
              <a:off x="0" y="19050"/>
              <a:ext cx="2799567" cy="1379484"/>
            </a:xfrm>
            <a:prstGeom prst="rect">
              <a:avLst/>
            </a:prstGeom>
          </p:spPr>
          <p:txBody>
            <a:bodyPr anchor="ctr" rtlCol="false" tIns="50800" lIns="50800" bIns="50800" rIns="50800"/>
            <a:lstStyle/>
            <a:p>
              <a:pPr algn="ctr">
                <a:lnSpc>
                  <a:spcPts val="2251"/>
                </a:lnSpc>
              </a:pPr>
            </a:p>
          </p:txBody>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DAG4Kb8uooc</dc:identifier>
  <dcterms:modified xsi:type="dcterms:W3CDTF">2011-08-01T06:04:30Z</dcterms:modified>
  <cp:revision>1</cp:revision>
  <dc:title>Kelompok 6_Ivan Cahya A.(172)_Firda Nurkhairani(209)</dc:title>
</cp:coreProperties>
</file>